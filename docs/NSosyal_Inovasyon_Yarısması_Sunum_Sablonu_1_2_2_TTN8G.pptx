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10287000" cx="18288000"/>
  <p:notesSz cx="6858000" cy="9144000"/>
  <p:embeddedFontLst>
    <p:embeddedFont>
      <p:font typeface="Arial Black"/>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0" roundtripDataSignature="AMtx7mhZVA08GWhzHOPXmb6vphiUmvrQ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99D568-20D2-4370-A9DA-35796D25FDE7}">
  <a:tblStyle styleId="{B799D568-20D2-4370-A9DA-35796D25FDE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ArialBlack-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nvSpPr>
        <p:spPr>
          <a:xfrm>
            <a:off x="3657600" y="495300"/>
            <a:ext cx="12061200" cy="1563600"/>
          </a:xfrm>
          <a:prstGeom prst="rect">
            <a:avLst/>
          </a:prstGeom>
          <a:noFill/>
          <a:ln>
            <a:noFill/>
          </a:ln>
        </p:spPr>
        <p:txBody>
          <a:bodyPr anchorCtr="0" anchor="t" bIns="0" lIns="0" spcFirstLastPara="1" rIns="0" wrap="square" tIns="0">
            <a:spAutoFit/>
          </a:bodyPr>
          <a:lstStyle/>
          <a:p>
            <a:pPr indent="0" lvl="0" marL="0" marR="0" rtl="0" algn="ctr">
              <a:lnSpc>
                <a:spcPct val="130886"/>
              </a:lnSpc>
              <a:spcBef>
                <a:spcPts val="0"/>
              </a:spcBef>
              <a:spcAft>
                <a:spcPts val="0"/>
              </a:spcAft>
              <a:buClr>
                <a:srgbClr val="002060"/>
              </a:buClr>
              <a:buSzPts val="4400"/>
              <a:buFont typeface="Arial Black"/>
              <a:buNone/>
            </a:pPr>
            <a:r>
              <a:rPr b="1" i="0" lang="en-US" sz="4400" u="none" cap="none" strike="noStrike">
                <a:solidFill>
                  <a:srgbClr val="93B3D7"/>
                </a:solidFill>
                <a:latin typeface="Arial Black"/>
                <a:ea typeface="Arial Black"/>
                <a:cs typeface="Arial Black"/>
                <a:sym typeface="Arial Black"/>
              </a:rPr>
              <a:t>NSOSYAL İNOVASYON YARIŞMASI</a:t>
            </a:r>
            <a:endParaRPr b="1" i="0" sz="4400" u="none" cap="none" strike="noStrike">
              <a:solidFill>
                <a:srgbClr val="93B3D7"/>
              </a:solidFill>
              <a:latin typeface="Arial Black"/>
              <a:ea typeface="Arial Black"/>
              <a:cs typeface="Arial Black"/>
              <a:sym typeface="Arial Black"/>
            </a:endParaRPr>
          </a:p>
          <a:p>
            <a:pPr indent="0" lvl="0" marL="0" marR="0" rtl="0" algn="ctr">
              <a:lnSpc>
                <a:spcPct val="130886"/>
              </a:lnSpc>
              <a:spcBef>
                <a:spcPts val="0"/>
              </a:spcBef>
              <a:spcAft>
                <a:spcPts val="0"/>
              </a:spcAft>
              <a:buClr>
                <a:srgbClr val="002060"/>
              </a:buClr>
              <a:buSzPts val="4400"/>
              <a:buFont typeface="Arial Black"/>
              <a:buNone/>
            </a:pPr>
            <a:r>
              <a:rPr b="1" i="0" lang="en-US" sz="4400" u="none" cap="none" strike="noStrike">
                <a:solidFill>
                  <a:srgbClr val="93B3D7"/>
                </a:solidFill>
                <a:latin typeface="Arial Black"/>
                <a:ea typeface="Arial Black"/>
                <a:cs typeface="Arial Black"/>
                <a:sym typeface="Arial Black"/>
              </a:rPr>
              <a:t>PROJE SUNUMU</a:t>
            </a:r>
            <a:endParaRPr>
              <a:solidFill>
                <a:srgbClr val="93B3D7"/>
              </a:solidFill>
            </a:endParaRPr>
          </a:p>
        </p:txBody>
      </p:sp>
      <p:sp>
        <p:nvSpPr>
          <p:cNvPr id="89" name="Google Shape;89;p1"/>
          <p:cNvSpPr/>
          <p:nvPr/>
        </p:nvSpPr>
        <p:spPr>
          <a:xfrm>
            <a:off x="9489306" y="1379470"/>
            <a:ext cx="397785" cy="423176"/>
          </a:xfrm>
          <a:custGeom>
            <a:rect b="b" l="l" r="r" t="t"/>
            <a:pathLst>
              <a:path extrusionOk="0" h="423176" w="397785">
                <a:moveTo>
                  <a:pt x="0" y="0"/>
                </a:moveTo>
                <a:lnTo>
                  <a:pt x="397786" y="0"/>
                </a:lnTo>
                <a:lnTo>
                  <a:pt x="397786" y="423176"/>
                </a:lnTo>
                <a:lnTo>
                  <a:pt x="0" y="4231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txBox="1"/>
          <p:nvPr/>
        </p:nvSpPr>
        <p:spPr>
          <a:xfrm>
            <a:off x="1143000" y="2705100"/>
            <a:ext cx="14238600" cy="453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060"/>
              </a:buClr>
              <a:buSzPts val="3200"/>
              <a:buFont typeface="Arial Black"/>
              <a:buNone/>
            </a:pPr>
            <a:r>
              <a:rPr b="0" i="0" lang="en-US" sz="3200" u="none" cap="none" strike="noStrike">
                <a:solidFill>
                  <a:srgbClr val="B7CCE4"/>
                </a:solidFill>
                <a:latin typeface="Arial Black"/>
                <a:ea typeface="Arial Black"/>
                <a:cs typeface="Arial Black"/>
                <a:sym typeface="Arial Black"/>
              </a:rPr>
              <a:t>PROJE ADI: </a:t>
            </a:r>
            <a:endParaRPr>
              <a:solidFill>
                <a:srgbClr val="B7CCE4"/>
              </a:solidFill>
            </a:endParaRPr>
          </a:p>
          <a:p>
            <a:pPr indent="0" lvl="0" marL="0" marR="0" rtl="0" algn="l">
              <a:lnSpc>
                <a:spcPct val="100000"/>
              </a:lnSpc>
              <a:spcBef>
                <a:spcPts val="0"/>
              </a:spcBef>
              <a:spcAft>
                <a:spcPts val="0"/>
              </a:spcAft>
              <a:buClr>
                <a:schemeClr val="dk1"/>
              </a:buClr>
              <a:buSzPts val="3200"/>
              <a:buFont typeface="Calibri"/>
              <a:buNone/>
            </a:pPr>
            <a:r>
              <a:t/>
            </a:r>
            <a:endParaRPr b="0" i="0" sz="3200" u="none" cap="none" strike="noStrike">
              <a:solidFill>
                <a:srgbClr val="B7CCE4"/>
              </a:solidFill>
              <a:latin typeface="Arial Black"/>
              <a:ea typeface="Arial Black"/>
              <a:cs typeface="Arial Black"/>
              <a:sym typeface="Arial Black"/>
            </a:endParaRPr>
          </a:p>
          <a:p>
            <a:pPr indent="0" lvl="0" marL="0" marR="0" rtl="0" algn="l">
              <a:lnSpc>
                <a:spcPct val="100000"/>
              </a:lnSpc>
              <a:spcBef>
                <a:spcPts val="0"/>
              </a:spcBef>
              <a:spcAft>
                <a:spcPts val="0"/>
              </a:spcAft>
              <a:buClr>
                <a:srgbClr val="002060"/>
              </a:buClr>
              <a:buSzPts val="3200"/>
              <a:buFont typeface="Arial Black"/>
              <a:buNone/>
            </a:pPr>
            <a:r>
              <a:rPr lang="en-US" sz="3200">
                <a:solidFill>
                  <a:srgbClr val="B7CCE4"/>
                </a:solidFill>
                <a:latin typeface="Arial Black"/>
                <a:ea typeface="Arial Black"/>
                <a:cs typeface="Arial Black"/>
                <a:sym typeface="Arial Black"/>
              </a:rPr>
              <a:t>TEMATİK ALAN</a:t>
            </a:r>
            <a:r>
              <a:rPr b="0" i="0" lang="en-US" sz="3200" u="none" cap="none" strike="noStrike">
                <a:solidFill>
                  <a:srgbClr val="B7CCE4"/>
                </a:solidFill>
                <a:latin typeface="Arial Black"/>
                <a:ea typeface="Arial Black"/>
                <a:cs typeface="Arial Black"/>
                <a:sym typeface="Arial Black"/>
              </a:rPr>
              <a:t>:</a:t>
            </a:r>
            <a:br>
              <a:rPr b="0" i="0" lang="en-US" sz="3200" u="none" cap="none" strike="noStrike">
                <a:solidFill>
                  <a:srgbClr val="B7CCE4"/>
                </a:solidFill>
                <a:latin typeface="Arial Black"/>
                <a:ea typeface="Arial Black"/>
                <a:cs typeface="Arial Black"/>
                <a:sym typeface="Arial Black"/>
              </a:rPr>
            </a:br>
            <a:endParaRPr b="0" i="0" sz="3200" u="none" cap="none" strike="noStrike">
              <a:solidFill>
                <a:srgbClr val="B7CCE4"/>
              </a:solidFill>
              <a:latin typeface="Arial Black"/>
              <a:ea typeface="Arial Black"/>
              <a:cs typeface="Arial Black"/>
              <a:sym typeface="Arial Black"/>
            </a:endParaRPr>
          </a:p>
          <a:p>
            <a:pPr indent="0" lvl="0" marL="0" marR="0" rtl="0" algn="l">
              <a:lnSpc>
                <a:spcPct val="100000"/>
              </a:lnSpc>
              <a:spcBef>
                <a:spcPts val="800"/>
              </a:spcBef>
              <a:spcAft>
                <a:spcPts val="0"/>
              </a:spcAft>
              <a:buClr>
                <a:srgbClr val="002060"/>
              </a:buClr>
              <a:buSzPts val="3200"/>
              <a:buFont typeface="Arial Black"/>
              <a:buNone/>
            </a:pPr>
            <a:r>
              <a:rPr b="0" i="0" lang="en-US" sz="3200" u="none" cap="none" strike="noStrike">
                <a:solidFill>
                  <a:srgbClr val="B7CCE4"/>
                </a:solidFill>
                <a:latin typeface="Arial Black"/>
                <a:ea typeface="Arial Black"/>
                <a:cs typeface="Arial Black"/>
                <a:sym typeface="Arial Black"/>
              </a:rPr>
              <a:t>TAKIM ADI:</a:t>
            </a:r>
            <a:endParaRPr>
              <a:solidFill>
                <a:srgbClr val="B7CCE4"/>
              </a:solidFill>
            </a:endParaRPr>
          </a:p>
          <a:p>
            <a:pPr indent="0" lvl="0" marL="0" marR="0" rtl="0" algn="l">
              <a:lnSpc>
                <a:spcPct val="100000"/>
              </a:lnSpc>
              <a:spcBef>
                <a:spcPts val="0"/>
              </a:spcBef>
              <a:spcAft>
                <a:spcPts val="0"/>
              </a:spcAft>
              <a:buClr>
                <a:schemeClr val="dk1"/>
              </a:buClr>
              <a:buSzPts val="3200"/>
              <a:buFont typeface="Calibri"/>
              <a:buNone/>
            </a:pPr>
            <a:r>
              <a:t/>
            </a:r>
            <a:endParaRPr b="0" i="0" sz="3200" u="none" cap="none" strike="noStrike">
              <a:solidFill>
                <a:srgbClr val="B7CCE4"/>
              </a:solidFill>
              <a:latin typeface="Arial Black"/>
              <a:ea typeface="Arial Black"/>
              <a:cs typeface="Arial Black"/>
              <a:sym typeface="Arial Black"/>
            </a:endParaRPr>
          </a:p>
          <a:p>
            <a:pPr indent="0" lvl="0" marL="0" marR="0" rtl="0" algn="l">
              <a:lnSpc>
                <a:spcPct val="100000"/>
              </a:lnSpc>
              <a:spcBef>
                <a:spcPts val="0"/>
              </a:spcBef>
              <a:spcAft>
                <a:spcPts val="0"/>
              </a:spcAft>
              <a:buClr>
                <a:srgbClr val="002060"/>
              </a:buClr>
              <a:buSzPts val="3200"/>
              <a:buFont typeface="Arial Black"/>
              <a:buNone/>
            </a:pPr>
            <a:r>
              <a:rPr b="0" i="0" lang="en-US" sz="3200" u="none" cap="none" strike="noStrike">
                <a:solidFill>
                  <a:srgbClr val="B7CCE4"/>
                </a:solidFill>
                <a:latin typeface="Arial Black"/>
                <a:ea typeface="Arial Black"/>
                <a:cs typeface="Arial Black"/>
                <a:sym typeface="Arial Black"/>
              </a:rPr>
              <a:t>TAKIM ID:</a:t>
            </a:r>
            <a:endParaRPr>
              <a:solidFill>
                <a:srgbClr val="B7CCE4"/>
              </a:solidFill>
            </a:endParaRPr>
          </a:p>
          <a:p>
            <a:pPr indent="0" lvl="0" marL="0" marR="0" rtl="0" algn="l">
              <a:lnSpc>
                <a:spcPct val="100000"/>
              </a:lnSpc>
              <a:spcBef>
                <a:spcPts val="0"/>
              </a:spcBef>
              <a:spcAft>
                <a:spcPts val="0"/>
              </a:spcAft>
              <a:buClr>
                <a:schemeClr val="dk1"/>
              </a:buClr>
              <a:buSzPts val="3200"/>
              <a:buFont typeface="Calibri"/>
              <a:buNone/>
            </a:pPr>
            <a:r>
              <a:t/>
            </a:r>
            <a:endParaRPr b="0" i="0" sz="3200" u="none" cap="none" strike="noStrike">
              <a:solidFill>
                <a:srgbClr val="B7CCE4"/>
              </a:solidFill>
              <a:latin typeface="Arial Black"/>
              <a:ea typeface="Arial Black"/>
              <a:cs typeface="Arial Black"/>
              <a:sym typeface="Arial Black"/>
            </a:endParaRPr>
          </a:p>
          <a:p>
            <a:pPr indent="0" lvl="0" marL="0" marR="0" rtl="0" algn="l">
              <a:lnSpc>
                <a:spcPct val="100000"/>
              </a:lnSpc>
              <a:spcBef>
                <a:spcPts val="0"/>
              </a:spcBef>
              <a:spcAft>
                <a:spcPts val="0"/>
              </a:spcAft>
              <a:buClr>
                <a:srgbClr val="002060"/>
              </a:buClr>
              <a:buSzPts val="3200"/>
              <a:buFont typeface="Arial Black"/>
              <a:buNone/>
            </a:pPr>
            <a:r>
              <a:rPr b="0" i="0" lang="en-US" sz="3200" u="none" cap="none" strike="noStrike">
                <a:solidFill>
                  <a:srgbClr val="B7CCE4"/>
                </a:solidFill>
                <a:latin typeface="Arial Black"/>
                <a:ea typeface="Arial Black"/>
                <a:cs typeface="Arial Black"/>
                <a:sym typeface="Arial Black"/>
              </a:rPr>
              <a:t>BAŞVURU ID:</a:t>
            </a:r>
            <a:endParaRPr>
              <a:solidFill>
                <a:srgbClr val="B7CCE4"/>
              </a:solidFill>
            </a:endParaRPr>
          </a:p>
        </p:txBody>
      </p:sp>
      <p:sp>
        <p:nvSpPr>
          <p:cNvPr id="91" name="Google Shape;91;p1"/>
          <p:cNvSpPr txBox="1"/>
          <p:nvPr/>
        </p:nvSpPr>
        <p:spPr>
          <a:xfrm>
            <a:off x="838200" y="9399270"/>
            <a:ext cx="17449800" cy="62103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Clr>
                <a:schemeClr val="lt1"/>
              </a:buClr>
              <a:buSzPts val="2000"/>
              <a:buFont typeface="Arial"/>
              <a:buNone/>
            </a:pPr>
            <a:r>
              <a:rPr b="0" i="0" lang="en-US" sz="2000" u="none" cap="none" strike="noStrike">
                <a:solidFill>
                  <a:schemeClr val="lt1"/>
                </a:solidFill>
                <a:highlight>
                  <a:srgbClr val="FF0000"/>
                </a:highlight>
                <a:latin typeface="Arial"/>
                <a:ea typeface="Arial"/>
                <a:cs typeface="Arial"/>
                <a:sym typeface="Arial"/>
              </a:rPr>
              <a:t>*Bu sayfa kapak sayfasıdır. İstenilen bilgiler doğru şekilde girilmelidir. Tüm sayfalarda olduğu gibi sayfa aynı şekilde kullanılmalı değişiklik yapılmamalıdır. (Bu açıklama silinmelidir.)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2"/>
          <p:cNvSpPr txBox="1"/>
          <p:nvPr/>
        </p:nvSpPr>
        <p:spPr>
          <a:xfrm>
            <a:off x="2387329" y="9546776"/>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97" name="Google Shape;97;p2"/>
          <p:cNvSpPr txBox="1"/>
          <p:nvPr/>
        </p:nvSpPr>
        <p:spPr>
          <a:xfrm>
            <a:off x="5440103" y="266700"/>
            <a:ext cx="7407793" cy="82073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399">
                <a:solidFill>
                  <a:srgbClr val="1A426A"/>
                </a:solidFill>
                <a:latin typeface="Arial"/>
                <a:ea typeface="Arial"/>
                <a:cs typeface="Arial"/>
                <a:sym typeface="Arial"/>
              </a:rPr>
              <a:t>TAKIM TANITIMI</a:t>
            </a:r>
            <a:endParaRPr/>
          </a:p>
        </p:txBody>
      </p:sp>
      <p:sp>
        <p:nvSpPr>
          <p:cNvPr id="98" name="Google Shape;98;p2"/>
          <p:cNvSpPr/>
          <p:nvPr/>
        </p:nvSpPr>
        <p:spPr>
          <a:xfrm>
            <a:off x="11108086" y="5143500"/>
            <a:ext cx="3603191" cy="121635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2"/>
          <p:cNvSpPr/>
          <p:nvPr/>
        </p:nvSpPr>
        <p:spPr>
          <a:xfrm>
            <a:off x="6781800" y="5143500"/>
            <a:ext cx="3600486" cy="1216358"/>
          </a:xfrm>
          <a:prstGeom prst="rect">
            <a:avLst/>
          </a:prstGeom>
          <a:solidFill>
            <a:srgbClr val="C5D8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p:nvPr/>
        </p:nvSpPr>
        <p:spPr>
          <a:xfrm>
            <a:off x="11108086" y="3809859"/>
            <a:ext cx="3603191" cy="1216358"/>
          </a:xfrm>
          <a:prstGeom prst="rect">
            <a:avLst/>
          </a:prstGeom>
          <a:solidFill>
            <a:srgbClr val="528DD5">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2"/>
          <p:cNvSpPr/>
          <p:nvPr/>
        </p:nvSpPr>
        <p:spPr>
          <a:xfrm>
            <a:off x="6781800" y="3809859"/>
            <a:ext cx="3600486" cy="1216358"/>
          </a:xfrm>
          <a:prstGeom prst="rect">
            <a:avLst/>
          </a:prstGeom>
          <a:solidFill>
            <a:srgbClr val="B7CCE4">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2"/>
          <p:cNvSpPr/>
          <p:nvPr/>
        </p:nvSpPr>
        <p:spPr>
          <a:xfrm>
            <a:off x="6781800" y="6477141"/>
            <a:ext cx="3600486" cy="1216358"/>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p:nvPr/>
        </p:nvSpPr>
        <p:spPr>
          <a:xfrm rot="10800000">
            <a:off x="4343681" y="5576265"/>
            <a:ext cx="173874" cy="150401"/>
          </a:xfrm>
          <a:custGeom>
            <a:rect b="b" l="l" r="r" t="t"/>
            <a:pathLst>
              <a:path extrusionOk="0" h="150401" w="173874">
                <a:moveTo>
                  <a:pt x="0" y="0"/>
                </a:moveTo>
                <a:lnTo>
                  <a:pt x="173873" y="0"/>
                </a:lnTo>
                <a:lnTo>
                  <a:pt x="173873"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2"/>
          <p:cNvSpPr txBox="1"/>
          <p:nvPr/>
        </p:nvSpPr>
        <p:spPr>
          <a:xfrm>
            <a:off x="3047613" y="3311220"/>
            <a:ext cx="2745589" cy="410268"/>
          </a:xfrm>
          <a:prstGeom prst="rect">
            <a:avLst/>
          </a:prstGeom>
          <a:noFill/>
          <a:ln>
            <a:noFill/>
          </a:ln>
        </p:spPr>
        <p:txBody>
          <a:bodyPr anchorCtr="0" anchor="t" bIns="0" lIns="0" spcFirstLastPara="1" rIns="0" wrap="square" tIns="0">
            <a:spAutoFit/>
          </a:bodyPr>
          <a:lstStyle/>
          <a:p>
            <a:pPr indent="0" lvl="0" marL="0" marR="0" rtl="0" algn="ctr">
              <a:lnSpc>
                <a:spcPct val="130991"/>
              </a:lnSpc>
              <a:spcBef>
                <a:spcPts val="0"/>
              </a:spcBef>
              <a:spcAft>
                <a:spcPts val="0"/>
              </a:spcAft>
              <a:buNone/>
            </a:pPr>
            <a:r>
              <a:rPr b="1" lang="en-US" sz="2462">
                <a:solidFill>
                  <a:srgbClr val="1A426A"/>
                </a:solidFill>
                <a:latin typeface="Ultra"/>
                <a:ea typeface="Ultra"/>
                <a:cs typeface="Ultra"/>
                <a:sym typeface="Ultra"/>
              </a:rPr>
              <a:t>TAKIM YAPISI</a:t>
            </a:r>
            <a:endParaRPr/>
          </a:p>
        </p:txBody>
      </p:sp>
      <p:sp>
        <p:nvSpPr>
          <p:cNvPr id="105" name="Google Shape;105;p2"/>
          <p:cNvSpPr txBox="1"/>
          <p:nvPr/>
        </p:nvSpPr>
        <p:spPr>
          <a:xfrm>
            <a:off x="8204432" y="3946967"/>
            <a:ext cx="1732974" cy="784574"/>
          </a:xfrm>
          <a:prstGeom prst="rect">
            <a:avLst/>
          </a:prstGeom>
          <a:noFill/>
          <a:ln>
            <a:noFill/>
          </a:ln>
        </p:spPr>
        <p:txBody>
          <a:bodyPr anchorCtr="0" anchor="t" bIns="0" lIns="0" spcFirstLastPara="1" rIns="0" wrap="square" tIns="0">
            <a:spAutoFit/>
          </a:bodyPr>
          <a:lstStyle/>
          <a:p>
            <a:pPr indent="0" lvl="0" marL="0" marR="0" rtl="0" algn="ctr">
              <a:lnSpc>
                <a:spcPct val="139946"/>
              </a:lnSpc>
              <a:spcBef>
                <a:spcPts val="0"/>
              </a:spcBef>
              <a:spcAft>
                <a:spcPts val="0"/>
              </a:spcAft>
              <a:buNone/>
            </a:pPr>
            <a:r>
              <a:rPr lang="en-US" sz="1492">
                <a:solidFill>
                  <a:schemeClr val="dk1"/>
                </a:solidFill>
                <a:latin typeface="Arial"/>
                <a:ea typeface="Arial"/>
                <a:cs typeface="Arial"/>
                <a:sym typeface="Arial"/>
              </a:rPr>
              <a:t>ÜYE 1         TAKIMDAKİ GÖREVİ EĞİTİM BİLGİSİ</a:t>
            </a:r>
            <a:endParaRPr/>
          </a:p>
        </p:txBody>
      </p:sp>
      <p:sp>
        <p:nvSpPr>
          <p:cNvPr id="106" name="Google Shape;106;p2"/>
          <p:cNvSpPr txBox="1"/>
          <p:nvPr/>
        </p:nvSpPr>
        <p:spPr>
          <a:xfrm>
            <a:off x="3443710" y="5230770"/>
            <a:ext cx="1959000" cy="839700"/>
          </a:xfrm>
          <a:prstGeom prst="rect">
            <a:avLst/>
          </a:prstGeom>
          <a:noFill/>
          <a:ln>
            <a:noFill/>
          </a:ln>
        </p:spPr>
        <p:txBody>
          <a:bodyPr anchorCtr="0" anchor="t" bIns="0" lIns="0" spcFirstLastPara="1" rIns="0" wrap="square" tIns="0">
            <a:spAutoFit/>
          </a:bodyPr>
          <a:lstStyle/>
          <a:p>
            <a:pPr indent="0" lvl="0" marL="0" rtl="0" algn="ctr">
              <a:lnSpc>
                <a:spcPct val="139972"/>
              </a:lnSpc>
              <a:spcBef>
                <a:spcPts val="0"/>
              </a:spcBef>
              <a:spcAft>
                <a:spcPts val="0"/>
              </a:spcAft>
              <a:buClr>
                <a:schemeClr val="dk1"/>
              </a:buClr>
              <a:buFont typeface="Arial"/>
              <a:buNone/>
            </a:pPr>
            <a:r>
              <a:rPr lang="en-US" sz="1436">
                <a:solidFill>
                  <a:srgbClr val="191919"/>
                </a:solidFill>
              </a:rPr>
              <a:t>TAKIM DANIŞMANI(VARSA)</a:t>
            </a:r>
            <a:endParaRPr sz="1436">
              <a:solidFill>
                <a:srgbClr val="191919"/>
              </a:solidFill>
            </a:endParaRPr>
          </a:p>
          <a:p>
            <a:pPr indent="0" lvl="0" marL="0" marR="0" rtl="0" algn="ctr">
              <a:lnSpc>
                <a:spcPct val="139972"/>
              </a:lnSpc>
              <a:spcBef>
                <a:spcPts val="0"/>
              </a:spcBef>
              <a:spcAft>
                <a:spcPts val="0"/>
              </a:spcAft>
              <a:buNone/>
            </a:pPr>
            <a:r>
              <a:t/>
            </a:r>
            <a:endParaRPr sz="1436">
              <a:solidFill>
                <a:srgbClr val="191919"/>
              </a:solidFill>
            </a:endParaRPr>
          </a:p>
        </p:txBody>
      </p:sp>
      <p:sp>
        <p:nvSpPr>
          <p:cNvPr id="107" name="Google Shape;107;p2"/>
          <p:cNvSpPr txBox="1"/>
          <p:nvPr/>
        </p:nvSpPr>
        <p:spPr>
          <a:xfrm>
            <a:off x="3458597" y="7164886"/>
            <a:ext cx="1959088" cy="234744"/>
          </a:xfrm>
          <a:prstGeom prst="rect">
            <a:avLst/>
          </a:prstGeom>
          <a:noFill/>
          <a:ln>
            <a:noFill/>
          </a:ln>
        </p:spPr>
        <p:txBody>
          <a:bodyPr anchorCtr="0" anchor="t" bIns="0" lIns="0" spcFirstLastPara="1" rIns="0" wrap="square" tIns="0">
            <a:spAutoFit/>
          </a:bodyPr>
          <a:lstStyle/>
          <a:p>
            <a:pPr indent="0" lvl="0" marL="0" marR="0" rtl="0" algn="ctr">
              <a:lnSpc>
                <a:spcPct val="139972"/>
              </a:lnSpc>
              <a:spcBef>
                <a:spcPts val="0"/>
              </a:spcBef>
              <a:spcAft>
                <a:spcPts val="0"/>
              </a:spcAft>
              <a:buNone/>
            </a:pPr>
            <a:r>
              <a:rPr lang="en-US" sz="1436">
                <a:solidFill>
                  <a:srgbClr val="191919"/>
                </a:solidFill>
                <a:latin typeface="Arial"/>
                <a:ea typeface="Arial"/>
                <a:cs typeface="Arial"/>
                <a:sym typeface="Arial"/>
              </a:rPr>
              <a:t>TAKIM KAPTANI</a:t>
            </a:r>
            <a:endParaRPr sz="1436">
              <a:solidFill>
                <a:srgbClr val="191919"/>
              </a:solidFill>
              <a:latin typeface="Arial"/>
              <a:ea typeface="Arial"/>
              <a:cs typeface="Arial"/>
              <a:sym typeface="Arial"/>
            </a:endParaRPr>
          </a:p>
        </p:txBody>
      </p:sp>
      <p:sp>
        <p:nvSpPr>
          <p:cNvPr id="108" name="Google Shape;108;p2"/>
          <p:cNvSpPr txBox="1"/>
          <p:nvPr/>
        </p:nvSpPr>
        <p:spPr>
          <a:xfrm>
            <a:off x="8204432" y="5218796"/>
            <a:ext cx="1732974" cy="784574"/>
          </a:xfrm>
          <a:prstGeom prst="rect">
            <a:avLst/>
          </a:prstGeom>
          <a:noFill/>
          <a:ln>
            <a:noFill/>
          </a:ln>
        </p:spPr>
        <p:txBody>
          <a:bodyPr anchorCtr="0" anchor="t" bIns="0" lIns="0" spcFirstLastPara="1" rIns="0" wrap="square" tIns="0">
            <a:spAutoFit/>
          </a:bodyPr>
          <a:lstStyle/>
          <a:p>
            <a:pPr indent="0" lvl="0" marL="0" marR="0" rtl="0" algn="ctr">
              <a:lnSpc>
                <a:spcPct val="139946"/>
              </a:lnSpc>
              <a:spcBef>
                <a:spcPts val="0"/>
              </a:spcBef>
              <a:spcAft>
                <a:spcPts val="0"/>
              </a:spcAft>
              <a:buNone/>
            </a:pPr>
            <a:r>
              <a:rPr lang="en-US" sz="1492">
                <a:solidFill>
                  <a:schemeClr val="dk1"/>
                </a:solidFill>
                <a:latin typeface="Arial"/>
                <a:ea typeface="Arial"/>
                <a:cs typeface="Arial"/>
                <a:sym typeface="Arial"/>
              </a:rPr>
              <a:t>ÜYE 2         TAKIMDAKİ GÖREVİ EĞİTİM BİLGİSİ</a:t>
            </a:r>
            <a:endParaRPr/>
          </a:p>
        </p:txBody>
      </p:sp>
      <p:sp>
        <p:nvSpPr>
          <p:cNvPr id="109" name="Google Shape;109;p2"/>
          <p:cNvSpPr txBox="1"/>
          <p:nvPr/>
        </p:nvSpPr>
        <p:spPr>
          <a:xfrm>
            <a:off x="8204432" y="6612068"/>
            <a:ext cx="1732974" cy="784574"/>
          </a:xfrm>
          <a:prstGeom prst="rect">
            <a:avLst/>
          </a:prstGeom>
          <a:noFill/>
          <a:ln>
            <a:noFill/>
          </a:ln>
        </p:spPr>
        <p:txBody>
          <a:bodyPr anchorCtr="0" anchor="t" bIns="0" lIns="0" spcFirstLastPara="1" rIns="0" wrap="square" tIns="0">
            <a:spAutoFit/>
          </a:bodyPr>
          <a:lstStyle/>
          <a:p>
            <a:pPr indent="0" lvl="0" marL="0" marR="0" rtl="0" algn="ctr">
              <a:lnSpc>
                <a:spcPct val="139946"/>
              </a:lnSpc>
              <a:spcBef>
                <a:spcPts val="0"/>
              </a:spcBef>
              <a:spcAft>
                <a:spcPts val="0"/>
              </a:spcAft>
              <a:buNone/>
            </a:pPr>
            <a:r>
              <a:rPr lang="en-US" sz="1492">
                <a:solidFill>
                  <a:schemeClr val="dk1"/>
                </a:solidFill>
                <a:latin typeface="Arial"/>
                <a:ea typeface="Arial"/>
                <a:cs typeface="Arial"/>
                <a:sym typeface="Arial"/>
              </a:rPr>
              <a:t>ÜYE 3        TAKIMDAKİ GÖREVİ EĞİTİM BİLGİSİ</a:t>
            </a:r>
            <a:endParaRPr/>
          </a:p>
        </p:txBody>
      </p:sp>
      <p:sp>
        <p:nvSpPr>
          <p:cNvPr id="110" name="Google Shape;110;p2"/>
          <p:cNvSpPr txBox="1"/>
          <p:nvPr/>
        </p:nvSpPr>
        <p:spPr>
          <a:xfrm>
            <a:off x="12716523" y="3929936"/>
            <a:ext cx="1757927" cy="784574"/>
          </a:xfrm>
          <a:prstGeom prst="rect">
            <a:avLst/>
          </a:prstGeom>
          <a:noFill/>
          <a:ln>
            <a:noFill/>
          </a:ln>
        </p:spPr>
        <p:txBody>
          <a:bodyPr anchorCtr="0" anchor="t" bIns="0" lIns="0" spcFirstLastPara="1" rIns="0" wrap="square" tIns="0">
            <a:spAutoFit/>
          </a:bodyPr>
          <a:lstStyle/>
          <a:p>
            <a:pPr indent="0" lvl="0" marL="0" marR="0" rtl="0" algn="ctr">
              <a:lnSpc>
                <a:spcPct val="139946"/>
              </a:lnSpc>
              <a:spcBef>
                <a:spcPts val="0"/>
              </a:spcBef>
              <a:spcAft>
                <a:spcPts val="0"/>
              </a:spcAft>
              <a:buNone/>
            </a:pPr>
            <a:r>
              <a:rPr lang="en-US" sz="1492">
                <a:solidFill>
                  <a:schemeClr val="dk1"/>
                </a:solidFill>
                <a:latin typeface="Arial"/>
                <a:ea typeface="Arial"/>
                <a:cs typeface="Arial"/>
                <a:sym typeface="Arial"/>
              </a:rPr>
              <a:t>ÜYE 4        TAKIMDAKİ GÖREVİ EĞİTİM BİLGİSİ</a:t>
            </a:r>
            <a:endParaRPr/>
          </a:p>
        </p:txBody>
      </p:sp>
      <p:sp>
        <p:nvSpPr>
          <p:cNvPr id="111" name="Google Shape;111;p2"/>
          <p:cNvSpPr txBox="1"/>
          <p:nvPr/>
        </p:nvSpPr>
        <p:spPr>
          <a:xfrm>
            <a:off x="12706297" y="5283085"/>
            <a:ext cx="1732974" cy="784574"/>
          </a:xfrm>
          <a:prstGeom prst="rect">
            <a:avLst/>
          </a:prstGeom>
          <a:noFill/>
          <a:ln>
            <a:noFill/>
          </a:ln>
        </p:spPr>
        <p:txBody>
          <a:bodyPr anchorCtr="0" anchor="t" bIns="0" lIns="0" spcFirstLastPara="1" rIns="0" wrap="square" tIns="0">
            <a:spAutoFit/>
          </a:bodyPr>
          <a:lstStyle/>
          <a:p>
            <a:pPr indent="0" lvl="0" marL="0" marR="0" rtl="0" algn="ctr">
              <a:lnSpc>
                <a:spcPct val="139946"/>
              </a:lnSpc>
              <a:spcBef>
                <a:spcPts val="0"/>
              </a:spcBef>
              <a:spcAft>
                <a:spcPts val="0"/>
              </a:spcAft>
              <a:buNone/>
            </a:pPr>
            <a:r>
              <a:rPr lang="en-US" sz="1492">
                <a:solidFill>
                  <a:schemeClr val="dk1"/>
                </a:solidFill>
                <a:latin typeface="Arial"/>
                <a:ea typeface="Arial"/>
                <a:cs typeface="Arial"/>
                <a:sym typeface="Arial"/>
              </a:rPr>
              <a:t>ÜYE 5         TAKIMDAKİ GÖREVİ EĞİTİM BİLGİSİ</a:t>
            </a:r>
            <a:endParaRPr/>
          </a:p>
        </p:txBody>
      </p:sp>
      <p:sp>
        <p:nvSpPr>
          <p:cNvPr id="112" name="Google Shape;112;p2"/>
          <p:cNvSpPr/>
          <p:nvPr/>
        </p:nvSpPr>
        <p:spPr>
          <a:xfrm>
            <a:off x="3776064" y="3859143"/>
            <a:ext cx="1302593" cy="1192708"/>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2"/>
          <p:cNvSpPr/>
          <p:nvPr/>
        </p:nvSpPr>
        <p:spPr>
          <a:xfrm>
            <a:off x="3780420" y="5825732"/>
            <a:ext cx="1302593" cy="1192708"/>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
          <p:cNvSpPr/>
          <p:nvPr/>
        </p:nvSpPr>
        <p:spPr>
          <a:xfrm>
            <a:off x="6989495" y="3906720"/>
            <a:ext cx="1106832" cy="1013895"/>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2"/>
          <p:cNvSpPr/>
          <p:nvPr/>
        </p:nvSpPr>
        <p:spPr>
          <a:xfrm>
            <a:off x="6989495" y="5259806"/>
            <a:ext cx="1106832" cy="1013895"/>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2"/>
          <p:cNvSpPr/>
          <p:nvPr/>
        </p:nvSpPr>
        <p:spPr>
          <a:xfrm>
            <a:off x="6989495" y="6613843"/>
            <a:ext cx="1106832" cy="1013895"/>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2"/>
          <p:cNvSpPr/>
          <p:nvPr/>
        </p:nvSpPr>
        <p:spPr>
          <a:xfrm>
            <a:off x="11379170" y="3907647"/>
            <a:ext cx="1106832" cy="1013895"/>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2"/>
          <p:cNvSpPr/>
          <p:nvPr/>
        </p:nvSpPr>
        <p:spPr>
          <a:xfrm>
            <a:off x="11374971" y="5232449"/>
            <a:ext cx="1106832" cy="1013895"/>
          </a:xfrm>
          <a:prstGeom prst="rect">
            <a:avLst/>
          </a:prstGeom>
          <a:solidFill>
            <a:schemeClr val="lt1"/>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2"/>
          <p:cNvSpPr/>
          <p:nvPr/>
        </p:nvSpPr>
        <p:spPr>
          <a:xfrm rot="5400000">
            <a:off x="6045503" y="6943240"/>
            <a:ext cx="173874" cy="150401"/>
          </a:xfrm>
          <a:custGeom>
            <a:rect b="b" l="l" r="r" t="t"/>
            <a:pathLst>
              <a:path extrusionOk="0" h="150401" w="173874">
                <a:moveTo>
                  <a:pt x="0" y="0"/>
                </a:moveTo>
                <a:lnTo>
                  <a:pt x="173874" y="0"/>
                </a:lnTo>
                <a:lnTo>
                  <a:pt x="173874"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2"/>
          <p:cNvSpPr/>
          <p:nvPr/>
        </p:nvSpPr>
        <p:spPr>
          <a:xfrm rot="5400000">
            <a:off x="6070675" y="5535883"/>
            <a:ext cx="173874" cy="150401"/>
          </a:xfrm>
          <a:custGeom>
            <a:rect b="b" l="l" r="r" t="t"/>
            <a:pathLst>
              <a:path extrusionOk="0" h="150401" w="173874">
                <a:moveTo>
                  <a:pt x="0" y="0"/>
                </a:moveTo>
                <a:lnTo>
                  <a:pt x="173874" y="0"/>
                </a:lnTo>
                <a:lnTo>
                  <a:pt x="173874"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
          <p:cNvSpPr/>
          <p:nvPr/>
        </p:nvSpPr>
        <p:spPr>
          <a:xfrm rot="5400000">
            <a:off x="6070675" y="4293360"/>
            <a:ext cx="173874" cy="150401"/>
          </a:xfrm>
          <a:custGeom>
            <a:rect b="b" l="l" r="r" t="t"/>
            <a:pathLst>
              <a:path extrusionOk="0" h="150401" w="173874">
                <a:moveTo>
                  <a:pt x="0" y="0"/>
                </a:moveTo>
                <a:lnTo>
                  <a:pt x="173874" y="0"/>
                </a:lnTo>
                <a:lnTo>
                  <a:pt x="173874"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2" name="Google Shape;122;p2"/>
          <p:cNvCxnSpPr/>
          <p:nvPr/>
        </p:nvCxnSpPr>
        <p:spPr>
          <a:xfrm flipH="1">
            <a:off x="5976027" y="4154562"/>
            <a:ext cx="27083" cy="426551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cxnSp>
        <p:nvCxnSpPr>
          <p:cNvPr id="123" name="Google Shape;123;p2"/>
          <p:cNvCxnSpPr/>
          <p:nvPr/>
        </p:nvCxnSpPr>
        <p:spPr>
          <a:xfrm flipH="1">
            <a:off x="4343680" y="8455151"/>
            <a:ext cx="1632347" cy="6497"/>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cxnSp>
        <p:nvCxnSpPr>
          <p:cNvPr id="124" name="Google Shape;124;p2"/>
          <p:cNvCxnSpPr/>
          <p:nvPr/>
        </p:nvCxnSpPr>
        <p:spPr>
          <a:xfrm rot="10800000">
            <a:off x="4343680" y="7614215"/>
            <a:ext cx="0" cy="854709"/>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25" name="Google Shape;125;p2"/>
          <p:cNvSpPr/>
          <p:nvPr/>
        </p:nvSpPr>
        <p:spPr>
          <a:xfrm>
            <a:off x="4235580" y="7506200"/>
            <a:ext cx="184827" cy="200549"/>
          </a:xfrm>
          <a:prstGeom prst="flowChartConnector">
            <a:avLst/>
          </a:prstGeom>
          <a:solidFill>
            <a:srgbClr val="366092"/>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2"/>
          <p:cNvSpPr/>
          <p:nvPr/>
        </p:nvSpPr>
        <p:spPr>
          <a:xfrm>
            <a:off x="5877778" y="3986866"/>
            <a:ext cx="184827" cy="200549"/>
          </a:xfrm>
          <a:prstGeom prst="flowChartConnector">
            <a:avLst/>
          </a:prstGeom>
          <a:solidFill>
            <a:srgbClr val="366092"/>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2"/>
          <p:cNvSpPr/>
          <p:nvPr/>
        </p:nvSpPr>
        <p:spPr>
          <a:xfrm rot="5400000">
            <a:off x="10632969" y="4350323"/>
            <a:ext cx="173874" cy="150401"/>
          </a:xfrm>
          <a:custGeom>
            <a:rect b="b" l="l" r="r" t="t"/>
            <a:pathLst>
              <a:path extrusionOk="0" h="150401" w="173874">
                <a:moveTo>
                  <a:pt x="0" y="0"/>
                </a:moveTo>
                <a:lnTo>
                  <a:pt x="173874" y="0"/>
                </a:lnTo>
                <a:lnTo>
                  <a:pt x="173874"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
          <p:cNvSpPr/>
          <p:nvPr/>
        </p:nvSpPr>
        <p:spPr>
          <a:xfrm rot="5400000">
            <a:off x="10617725" y="5622820"/>
            <a:ext cx="173874" cy="150401"/>
          </a:xfrm>
          <a:custGeom>
            <a:rect b="b" l="l" r="r" t="t"/>
            <a:pathLst>
              <a:path extrusionOk="0" h="150401" w="173874">
                <a:moveTo>
                  <a:pt x="0" y="0"/>
                </a:moveTo>
                <a:lnTo>
                  <a:pt x="173874" y="0"/>
                </a:lnTo>
                <a:lnTo>
                  <a:pt x="173874" y="150401"/>
                </a:lnTo>
                <a:lnTo>
                  <a:pt x="0" y="1504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2"/>
          <p:cNvSpPr txBox="1"/>
          <p:nvPr/>
        </p:nvSpPr>
        <p:spPr>
          <a:xfrm>
            <a:off x="7042" y="1735521"/>
            <a:ext cx="18127754" cy="9347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800">
                <a:solidFill>
                  <a:srgbClr val="FF0000"/>
                </a:solidFill>
                <a:latin typeface="Arial"/>
                <a:ea typeface="Arial"/>
                <a:cs typeface="Arial"/>
                <a:sym typeface="Arial"/>
              </a:rPr>
              <a:t>Takım şablonundaki kutu sayısı takım üye sayısına göre güncellenmelidir. Şablondaki istenilen bilgiler doldurulmalıdır.</a:t>
            </a:r>
            <a:endParaRPr/>
          </a:p>
          <a:p>
            <a:pPr indent="0" lvl="0" marL="0" marR="0" rtl="0" algn="ctr">
              <a:lnSpc>
                <a:spcPct val="140000"/>
              </a:lnSpc>
              <a:spcBef>
                <a:spcPts val="0"/>
              </a:spcBef>
              <a:spcAft>
                <a:spcPts val="0"/>
              </a:spcAft>
              <a:buNone/>
            </a:pPr>
            <a:r>
              <a:rPr lang="en-US" sz="1800">
                <a:solidFill>
                  <a:srgbClr val="FF0000"/>
                </a:solidFill>
                <a:latin typeface="Arial"/>
                <a:ea typeface="Arial"/>
                <a:cs typeface="Arial"/>
                <a:sym typeface="Arial"/>
              </a:rPr>
              <a:t>Takım tanıtımı </a:t>
            </a:r>
            <a:r>
              <a:rPr lang="en-US" sz="1800" u="sng">
                <a:solidFill>
                  <a:srgbClr val="FF0000"/>
                </a:solidFill>
                <a:latin typeface="Arial"/>
                <a:ea typeface="Arial"/>
                <a:cs typeface="Arial"/>
                <a:sym typeface="Arial"/>
              </a:rPr>
              <a:t>en fazla</a:t>
            </a:r>
            <a:r>
              <a:rPr lang="en-US" sz="1800">
                <a:solidFill>
                  <a:srgbClr val="FF0000"/>
                </a:solidFill>
                <a:latin typeface="Arial"/>
                <a:ea typeface="Arial"/>
                <a:cs typeface="Arial"/>
                <a:sym typeface="Arial"/>
              </a:rPr>
              <a:t> bir(1) sayfadır. Sayfa sınırı aşılmamalıdır.  </a:t>
            </a:r>
            <a:endParaRPr/>
          </a:p>
          <a:p>
            <a:pPr indent="0" lvl="0" marL="0" marR="0" rtl="0" algn="ctr">
              <a:lnSpc>
                <a:spcPct val="140000"/>
              </a:lnSpc>
              <a:spcBef>
                <a:spcPts val="0"/>
              </a:spcBef>
              <a:spcAft>
                <a:spcPts val="0"/>
              </a:spcAft>
              <a:buNone/>
            </a:pPr>
            <a:r>
              <a:rPr lang="en-US" sz="1800">
                <a:solidFill>
                  <a:srgbClr val="FF0000"/>
                </a:solidFill>
                <a:latin typeface="Arial"/>
                <a:ea typeface="Arial"/>
                <a:cs typeface="Arial"/>
                <a:sym typeface="Arial"/>
              </a:rPr>
              <a:t>Takım kaptanı bilgilerini ilgili alanda verip, tekrar üye olarak yer vermemelisiniz. </a:t>
            </a:r>
            <a:endParaRPr sz="1800">
              <a:solidFill>
                <a:srgbClr val="FF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3"/>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135" name="Google Shape;135;p3"/>
          <p:cNvSpPr txBox="1"/>
          <p:nvPr/>
        </p:nvSpPr>
        <p:spPr>
          <a:xfrm>
            <a:off x="3690400" y="266700"/>
            <a:ext cx="10517700" cy="9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399">
                <a:solidFill>
                  <a:srgbClr val="1A426A"/>
                </a:solidFill>
                <a:latin typeface="Arial"/>
                <a:ea typeface="Arial"/>
                <a:cs typeface="Arial"/>
                <a:sym typeface="Arial"/>
              </a:rPr>
              <a:t>PROJE ÖZETİ VE KAPSAMI</a:t>
            </a:r>
            <a:endParaRPr/>
          </a:p>
        </p:txBody>
      </p:sp>
      <p:sp>
        <p:nvSpPr>
          <p:cNvPr id="136" name="Google Shape;136;p3"/>
          <p:cNvSpPr txBox="1"/>
          <p:nvPr/>
        </p:nvSpPr>
        <p:spPr>
          <a:xfrm>
            <a:off x="1242275" y="2400310"/>
            <a:ext cx="12840900" cy="3768000"/>
          </a:xfrm>
          <a:prstGeom prst="rect">
            <a:avLst/>
          </a:prstGeom>
          <a:noFill/>
          <a:ln>
            <a:noFill/>
          </a:ln>
        </p:spPr>
        <p:txBody>
          <a:bodyPr anchorCtr="0" anchor="t" bIns="0" lIns="0" spcFirstLastPara="1" rIns="0" wrap="square" tIns="0">
            <a:spAutoFit/>
          </a:bodyPr>
          <a:lstStyle/>
          <a:p>
            <a:pPr indent="-194311" lvl="1" marL="388623" rtl="0" algn="l">
              <a:lnSpc>
                <a:spcPct val="140000"/>
              </a:lnSpc>
              <a:spcBef>
                <a:spcPts val="0"/>
              </a:spcBef>
              <a:spcAft>
                <a:spcPts val="0"/>
              </a:spcAft>
              <a:buClr>
                <a:srgbClr val="FF0000"/>
              </a:buClr>
              <a:buSzPts val="1800"/>
              <a:buChar char="•"/>
            </a:pPr>
            <a:r>
              <a:rPr lang="en-US" sz="1800">
                <a:solidFill>
                  <a:srgbClr val="FF0000"/>
                </a:solidFill>
              </a:rPr>
              <a:t>Proje/fikir özet sayfasıdır. </a:t>
            </a:r>
            <a:endParaRPr>
              <a:solidFill>
                <a:schemeClr val="dk1"/>
              </a:solidFill>
            </a:endParaRPr>
          </a:p>
          <a:p>
            <a:pPr indent="-194311" lvl="1" marL="388623" rtl="0" algn="l">
              <a:lnSpc>
                <a:spcPct val="140000"/>
              </a:lnSpc>
              <a:spcBef>
                <a:spcPts val="0"/>
              </a:spcBef>
              <a:spcAft>
                <a:spcPts val="0"/>
              </a:spcAft>
              <a:buClr>
                <a:srgbClr val="FF0000"/>
              </a:buClr>
              <a:buSzPts val="1800"/>
              <a:buChar char="•"/>
            </a:pPr>
            <a:r>
              <a:rPr lang="en-US" sz="1800">
                <a:solidFill>
                  <a:srgbClr val="FF0000"/>
                </a:solidFill>
              </a:rPr>
              <a:t>Özet sayfası </a:t>
            </a:r>
            <a:r>
              <a:rPr lang="en-US" sz="1800" u="sng">
                <a:solidFill>
                  <a:srgbClr val="FF0000"/>
                </a:solidFill>
              </a:rPr>
              <a:t>en fazla </a:t>
            </a:r>
            <a:r>
              <a:rPr lang="en-US" sz="1800">
                <a:solidFill>
                  <a:srgbClr val="FF0000"/>
                </a:solidFill>
              </a:rPr>
              <a:t>bir(1) sayfada açıklanmalıdır. </a:t>
            </a:r>
            <a:r>
              <a:rPr lang="en-US" sz="1800" u="sng">
                <a:solidFill>
                  <a:srgbClr val="FF0000"/>
                </a:solidFill>
              </a:rPr>
              <a:t>Sayfa sınırı </a:t>
            </a:r>
            <a:r>
              <a:rPr lang="en-US" sz="1800">
                <a:solidFill>
                  <a:srgbClr val="FF0000"/>
                </a:solidFill>
              </a:rPr>
              <a:t>aşılmamalıdır. </a:t>
            </a:r>
            <a:endParaRPr sz="1800">
              <a:solidFill>
                <a:srgbClr val="FF0000"/>
              </a:solidFill>
            </a:endParaRPr>
          </a:p>
          <a:p>
            <a:pPr indent="-194311" lvl="1" marL="388623" rtl="0" algn="l">
              <a:lnSpc>
                <a:spcPct val="140000"/>
              </a:lnSpc>
              <a:spcBef>
                <a:spcPts val="0"/>
              </a:spcBef>
              <a:spcAft>
                <a:spcPts val="0"/>
              </a:spcAft>
              <a:buClr>
                <a:srgbClr val="FF0000"/>
              </a:buClr>
              <a:buSzPts val="1800"/>
              <a:buChar char="•"/>
            </a:pPr>
            <a:r>
              <a:rPr lang="en-US" sz="1800">
                <a:solidFill>
                  <a:srgbClr val="FF0000"/>
                </a:solidFill>
              </a:rPr>
              <a:t>Proje özeti başlığı kapsamında kısa net bir şekilde proje fikri özetlenmeli, çalışma kısaca açıklanmalıdır. </a:t>
            </a:r>
            <a:endParaRPr>
              <a:solidFill>
                <a:schemeClr val="dk1"/>
              </a:solidFill>
            </a:endParaRPr>
          </a:p>
          <a:p>
            <a:pPr indent="-194311" lvl="1" marL="388623" rtl="0" algn="l">
              <a:lnSpc>
                <a:spcPct val="140000"/>
              </a:lnSpc>
              <a:spcBef>
                <a:spcPts val="0"/>
              </a:spcBef>
              <a:spcAft>
                <a:spcPts val="0"/>
              </a:spcAft>
              <a:buClr>
                <a:srgbClr val="FF0000"/>
              </a:buClr>
              <a:buSzPts val="1800"/>
              <a:buChar char="•"/>
            </a:pPr>
            <a:r>
              <a:rPr lang="en-US" sz="1800">
                <a:solidFill>
                  <a:srgbClr val="FF0000"/>
                </a:solidFill>
              </a:rPr>
              <a:t>Projenin konusu, ele alınan problemin seçilme gerekçesi, temel amacı ve kullanılan yöntem kısa ve açık biçimde özetlenmelidir.</a:t>
            </a:r>
            <a:endParaRPr sz="1800">
              <a:solidFill>
                <a:srgbClr val="FF0000"/>
              </a:solidFill>
            </a:endParaRPr>
          </a:p>
          <a:p>
            <a:pPr indent="-194311" lvl="1" marL="388623" rtl="0" algn="l">
              <a:lnSpc>
                <a:spcPct val="140000"/>
              </a:lnSpc>
              <a:spcBef>
                <a:spcPts val="0"/>
              </a:spcBef>
              <a:spcAft>
                <a:spcPts val="0"/>
              </a:spcAft>
              <a:buClr>
                <a:srgbClr val="FF0000"/>
              </a:buClr>
              <a:buSzPts val="1800"/>
              <a:buChar char="•"/>
            </a:pPr>
            <a:r>
              <a:rPr lang="en-US" sz="1800">
                <a:solidFill>
                  <a:srgbClr val="FF0000"/>
                </a:solidFill>
              </a:rPr>
              <a:t>Projenizin; hangi tematik alana girdiği ve sosyal medya ekosisteminde hangi sürece katkı sağladığı açıkça belirtilmeli. </a:t>
            </a:r>
            <a:br>
              <a:rPr lang="en-US" sz="1800">
                <a:solidFill>
                  <a:srgbClr val="FF0000"/>
                </a:solidFill>
              </a:rPr>
            </a:br>
            <a:endParaRPr sz="1800">
              <a:solidFill>
                <a:srgbClr val="FF0000"/>
              </a:solidFill>
            </a:endParaRPr>
          </a:p>
          <a:p>
            <a:pPr indent="0" lvl="1" marL="194311" rtl="0" algn="l">
              <a:lnSpc>
                <a:spcPct val="140000"/>
              </a:lnSpc>
              <a:spcBef>
                <a:spcPts val="0"/>
              </a:spcBef>
              <a:spcAft>
                <a:spcPts val="0"/>
              </a:spcAft>
              <a:buClr>
                <a:schemeClr val="dk1"/>
              </a:buClr>
              <a:buFont typeface="Arial"/>
              <a:buNone/>
            </a:pPr>
            <a:r>
              <a:rPr lang="en-US" sz="1800">
                <a:solidFill>
                  <a:srgbClr val="FF0000"/>
                </a:solidFill>
              </a:rPr>
              <a:t>Sayfada görsellerden (tablolar, akış diyagramı , infografik vb.) yararlanabilirsiniz.</a:t>
            </a:r>
            <a:endParaRPr sz="1800">
              <a:solidFill>
                <a:srgbClr val="FF0000"/>
              </a:solidFill>
            </a:endParaRPr>
          </a:p>
          <a:p>
            <a:pPr indent="0" lvl="1" marL="194311" marR="0" rtl="0" algn="l">
              <a:lnSpc>
                <a:spcPct val="140000"/>
              </a:lnSpc>
              <a:spcBef>
                <a:spcPts val="0"/>
              </a:spcBef>
              <a:spcAft>
                <a:spcPts val="0"/>
              </a:spcAft>
              <a:buNone/>
            </a:pPr>
            <a:r>
              <a:t/>
            </a:r>
            <a:endParaRPr b="0" i="0" sz="1800" u="none" cap="none" strike="noStrike">
              <a:solidFill>
                <a:srgbClr val="DE2223"/>
              </a:solidFill>
              <a:latin typeface="Arial"/>
              <a:ea typeface="Arial"/>
              <a:cs typeface="Arial"/>
              <a:sym typeface="Arial"/>
            </a:endParaRPr>
          </a:p>
          <a:p>
            <a:pPr indent="0" lvl="0" marL="0" marR="0" rtl="0" algn="l">
              <a:lnSpc>
                <a:spcPct val="140000"/>
              </a:lnSpc>
              <a:spcBef>
                <a:spcPts val="0"/>
              </a:spcBef>
              <a:spcAft>
                <a:spcPts val="0"/>
              </a:spcAft>
              <a:buNone/>
            </a:pPr>
            <a:r>
              <a:t/>
            </a:r>
            <a:endParaRPr sz="1800">
              <a:solidFill>
                <a:srgbClr val="DE2223"/>
              </a:solidFill>
              <a:latin typeface="Arial"/>
              <a:ea typeface="Arial"/>
              <a:cs typeface="Arial"/>
              <a:sym typeface="Arial"/>
            </a:endParaRPr>
          </a:p>
        </p:txBody>
      </p:sp>
      <p:cxnSp>
        <p:nvCxnSpPr>
          <p:cNvPr id="137" name="Google Shape;137;p3"/>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138" name="Google Shape;138;p3"/>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139" name="Google Shape;139;p3"/>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140" name="Google Shape;140;p3"/>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141" name="Google Shape;141;p3"/>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142" name="Google Shape;142;p3"/>
          <p:cNvSpPr txBox="1"/>
          <p:nvPr/>
        </p:nvSpPr>
        <p:spPr>
          <a:xfrm>
            <a:off x="15729296" y="6806628"/>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143" name="Google Shape;143;p3"/>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144" name="Google Shape;144;p3"/>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3"/>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3"/>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3"/>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3"/>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3"/>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3"/>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3"/>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3"/>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153" name="Google Shape;153;p3"/>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3"/>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3"/>
          <p:cNvSpPr txBox="1"/>
          <p:nvPr/>
        </p:nvSpPr>
        <p:spPr>
          <a:xfrm>
            <a:off x="15752068" y="1860857"/>
            <a:ext cx="1697732"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156" name="Google Shape;156;p3"/>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3"/>
          <p:cNvSpPr txBox="1"/>
          <p:nvPr/>
        </p:nvSpPr>
        <p:spPr>
          <a:xfrm>
            <a:off x="15788811" y="4076700"/>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158" name="Google Shape;158;p3"/>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4"/>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164" name="Google Shape;164;p4"/>
          <p:cNvSpPr txBox="1"/>
          <p:nvPr/>
        </p:nvSpPr>
        <p:spPr>
          <a:xfrm>
            <a:off x="4437994" y="266700"/>
            <a:ext cx="9412011" cy="82073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399">
                <a:solidFill>
                  <a:srgbClr val="1A426A"/>
                </a:solidFill>
                <a:latin typeface="Arial"/>
                <a:ea typeface="Arial"/>
                <a:cs typeface="Arial"/>
                <a:sym typeface="Arial"/>
              </a:rPr>
              <a:t>PROBLEMİN TANIMI</a:t>
            </a:r>
            <a:endParaRPr/>
          </a:p>
        </p:txBody>
      </p:sp>
      <p:sp>
        <p:nvSpPr>
          <p:cNvPr id="165" name="Google Shape;165;p4"/>
          <p:cNvSpPr txBox="1"/>
          <p:nvPr/>
        </p:nvSpPr>
        <p:spPr>
          <a:xfrm>
            <a:off x="1219200" y="1657100"/>
            <a:ext cx="12840900" cy="6277800"/>
          </a:xfrm>
          <a:prstGeom prst="rect">
            <a:avLst/>
          </a:prstGeom>
          <a:noFill/>
          <a:ln>
            <a:noFill/>
          </a:ln>
        </p:spPr>
        <p:txBody>
          <a:bodyPr anchorCtr="0" anchor="t" bIns="0" lIns="0" spcFirstLastPara="1" rIns="0" wrap="square" tIns="0">
            <a:spAutoFit/>
          </a:bodyPr>
          <a:lstStyle/>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Problemin ele alındığı sayfadır.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Problemin tanımı </a:t>
            </a:r>
            <a:r>
              <a:rPr lang="en-US" sz="1800" u="sng">
                <a:solidFill>
                  <a:srgbClr val="FF0000"/>
                </a:solidFill>
              </a:rPr>
              <a:t>en  fazla iki </a:t>
            </a:r>
            <a:r>
              <a:rPr lang="en-US" sz="1800">
                <a:solidFill>
                  <a:srgbClr val="FF0000"/>
                </a:solidFill>
              </a:rPr>
              <a:t>(2) sayfada açıklanmalıdır. </a:t>
            </a:r>
            <a:r>
              <a:rPr lang="en-US" sz="1800" u="sng">
                <a:solidFill>
                  <a:srgbClr val="FF0000"/>
                </a:solidFill>
              </a:rPr>
              <a:t>Sayfa sınırı </a:t>
            </a:r>
            <a:r>
              <a:rPr lang="en-US" sz="1800">
                <a:solidFill>
                  <a:srgbClr val="FF0000"/>
                </a:solidFill>
              </a:rPr>
              <a:t>aşılmamalıdır. İsteyen takımlar bir (1) sayfada anlatabilir.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Problem tanımı güncel literatür, akademik çalışmalar ve /veya güvenilir resmi kaynaklarla desteklenmelidir.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Mevcut durum nedir ve bu durumda karşılaşılan problemler nelerdir. Probleme dair literatür araştırması/taraması ile desteklenerek açıklanmalıdır. Problem tanımı; süreci aksatan, yavaşlatan veya zorlaştıran bir uygulama hakkında olabileceği gibi halihazırda düzgün işleyen bir uygulamanın geliştirilmesine yönelik de olabilir.</a:t>
            </a:r>
            <a:endParaRPr>
              <a:solidFill>
                <a:schemeClr val="dk1"/>
              </a:solidFill>
            </a:endParaRPr>
          </a:p>
          <a:p>
            <a:pPr indent="-197028" lvl="1" marL="394056" rtl="0" algn="l">
              <a:lnSpc>
                <a:spcPct val="141944"/>
              </a:lnSpc>
              <a:spcBef>
                <a:spcPts val="0"/>
              </a:spcBef>
              <a:spcAft>
                <a:spcPts val="0"/>
              </a:spcAft>
              <a:buClr>
                <a:srgbClr val="FF0000"/>
              </a:buClr>
              <a:buSzPts val="1800"/>
              <a:buChar char="•"/>
            </a:pPr>
            <a:r>
              <a:rPr lang="en-US" sz="1800">
                <a:solidFill>
                  <a:srgbClr val="FF0000"/>
                </a:solidFill>
              </a:rPr>
              <a:t>Literatür taraması sonucu ilgili proje konusunda daha önce yapılmış olan çalışmalardan bahsedilmelidir.</a:t>
            </a:r>
            <a:endParaRPr>
              <a:solidFill>
                <a:schemeClr val="dk1"/>
              </a:solidFill>
            </a:endParaRPr>
          </a:p>
          <a:p>
            <a:pPr indent="-197028" lvl="1" marL="394056" rtl="0" algn="l">
              <a:lnSpc>
                <a:spcPct val="141944"/>
              </a:lnSpc>
              <a:spcBef>
                <a:spcPts val="0"/>
              </a:spcBef>
              <a:spcAft>
                <a:spcPts val="0"/>
              </a:spcAft>
              <a:buClr>
                <a:srgbClr val="FF0000"/>
              </a:buClr>
              <a:buSzPts val="1800"/>
              <a:buChar char="•"/>
            </a:pPr>
            <a:r>
              <a:rPr lang="en-US" sz="1800">
                <a:solidFill>
                  <a:srgbClr val="FF0000"/>
                </a:solidFill>
              </a:rPr>
              <a:t>Problemin büyüklüğünü ortaya koyan güncel ve kaynaklandırılmış veri /istatistikler sunulmalı ; mevcut çözümler ve bu çözümlerin eksik veya yetersiz kalan yönleri açıkça gösterilmelidir.</a:t>
            </a:r>
            <a:endParaRPr>
              <a:solidFill>
                <a:schemeClr val="dk1"/>
              </a:solidFill>
            </a:endParaRPr>
          </a:p>
          <a:p>
            <a:pPr indent="-80010" lvl="1" marL="388620" rtl="0" algn="l">
              <a:lnSpc>
                <a:spcPct val="160000"/>
              </a:lnSpc>
              <a:spcBef>
                <a:spcPts val="0"/>
              </a:spcBef>
              <a:spcAft>
                <a:spcPts val="0"/>
              </a:spcAft>
              <a:buClr>
                <a:schemeClr val="dk1"/>
              </a:buClr>
              <a:buSzPts val="1800"/>
              <a:buFont typeface="Arial"/>
              <a:buNone/>
            </a:pPr>
            <a:r>
              <a:t/>
            </a:r>
            <a:endParaRPr sz="1800">
              <a:solidFill>
                <a:srgbClr val="FF0000"/>
              </a:solidFill>
            </a:endParaRPr>
          </a:p>
          <a:p>
            <a:pPr indent="0" lvl="1" marL="194311" rtl="0" algn="l">
              <a:lnSpc>
                <a:spcPct val="140000"/>
              </a:lnSpc>
              <a:spcBef>
                <a:spcPts val="0"/>
              </a:spcBef>
              <a:spcAft>
                <a:spcPts val="0"/>
              </a:spcAft>
              <a:buClr>
                <a:schemeClr val="dk1"/>
              </a:buClr>
              <a:buFont typeface="Arial"/>
              <a:buNone/>
            </a:pPr>
            <a:r>
              <a:rPr lang="en-US" sz="1800">
                <a:solidFill>
                  <a:srgbClr val="FF0000"/>
                </a:solidFill>
              </a:rPr>
              <a:t>Sayfalarda görsellerden (tablolar, akış diyagramı , infografik vb.) yararlanabilirsiniz.</a:t>
            </a:r>
            <a:endParaRPr sz="1800">
              <a:solidFill>
                <a:schemeClr val="dk1"/>
              </a:solidFill>
              <a:latin typeface="Calibri"/>
              <a:ea typeface="Calibri"/>
              <a:cs typeface="Calibri"/>
              <a:sym typeface="Calibri"/>
            </a:endParaRPr>
          </a:p>
          <a:p>
            <a:pPr indent="0" lvl="1" marL="194310" marR="0" rtl="0" algn="l">
              <a:lnSpc>
                <a:spcPct val="160000"/>
              </a:lnSpc>
              <a:spcBef>
                <a:spcPts val="0"/>
              </a:spcBef>
              <a:spcAft>
                <a:spcPts val="0"/>
              </a:spcAft>
              <a:buNone/>
            </a:pPr>
            <a:r>
              <a:t/>
            </a:r>
            <a:endParaRPr b="0" i="0" sz="1800" u="none" cap="none" strike="noStrike">
              <a:solidFill>
                <a:srgbClr val="DE2223"/>
              </a:solidFill>
              <a:latin typeface="Arial"/>
              <a:ea typeface="Arial"/>
              <a:cs typeface="Arial"/>
              <a:sym typeface="Arial"/>
            </a:endParaRPr>
          </a:p>
          <a:p>
            <a:pPr indent="0" lvl="0" marL="0" marR="0" rtl="0" algn="l">
              <a:lnSpc>
                <a:spcPct val="160000"/>
              </a:lnSpc>
              <a:spcBef>
                <a:spcPts val="0"/>
              </a:spcBef>
              <a:spcAft>
                <a:spcPts val="0"/>
              </a:spcAft>
              <a:buNone/>
            </a:pPr>
            <a:r>
              <a:t/>
            </a:r>
            <a:endParaRPr sz="1800">
              <a:solidFill>
                <a:srgbClr val="DE2223"/>
              </a:solidFill>
              <a:latin typeface="Arial"/>
              <a:ea typeface="Arial"/>
              <a:cs typeface="Arial"/>
              <a:sym typeface="Arial"/>
            </a:endParaRPr>
          </a:p>
          <a:p>
            <a:pPr indent="0" lvl="0" marL="0" marR="0" rtl="0" algn="l">
              <a:lnSpc>
                <a:spcPct val="160000"/>
              </a:lnSpc>
              <a:spcBef>
                <a:spcPts val="0"/>
              </a:spcBef>
              <a:spcAft>
                <a:spcPts val="0"/>
              </a:spcAft>
              <a:buNone/>
            </a:pPr>
            <a:r>
              <a:t/>
            </a:r>
            <a:endParaRPr sz="1800">
              <a:solidFill>
                <a:srgbClr val="DE2223"/>
              </a:solidFill>
              <a:latin typeface="Arial"/>
              <a:ea typeface="Arial"/>
              <a:cs typeface="Arial"/>
              <a:sym typeface="Arial"/>
            </a:endParaRPr>
          </a:p>
        </p:txBody>
      </p:sp>
      <p:cxnSp>
        <p:nvCxnSpPr>
          <p:cNvPr id="166" name="Google Shape;166;p4"/>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167" name="Google Shape;167;p4"/>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168" name="Google Shape;168;p4"/>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169" name="Google Shape;169;p4"/>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170" name="Google Shape;170;p4"/>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171" name="Google Shape;171;p4"/>
          <p:cNvSpPr txBox="1"/>
          <p:nvPr/>
        </p:nvSpPr>
        <p:spPr>
          <a:xfrm>
            <a:off x="15729296" y="6793768"/>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172" name="Google Shape;172;p4"/>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173" name="Google Shape;173;p4"/>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4"/>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4"/>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4"/>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4"/>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4"/>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4"/>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4"/>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4"/>
          <p:cNvSpPr txBox="1"/>
          <p:nvPr/>
        </p:nvSpPr>
        <p:spPr>
          <a:xfrm>
            <a:off x="15521473" y="2673548"/>
            <a:ext cx="1928327" cy="257315"/>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182" name="Google Shape;182;p4"/>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4"/>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4"/>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185" name="Google Shape;185;p4"/>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4"/>
          <p:cNvSpPr txBox="1"/>
          <p:nvPr/>
        </p:nvSpPr>
        <p:spPr>
          <a:xfrm>
            <a:off x="15788811" y="4076700"/>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187" name="Google Shape;187;p4"/>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sp>
        <p:nvSpPr>
          <p:cNvPr id="192" name="Google Shape;192;p5"/>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193" name="Google Shape;193;p5"/>
          <p:cNvSpPr txBox="1"/>
          <p:nvPr/>
        </p:nvSpPr>
        <p:spPr>
          <a:xfrm>
            <a:off x="4437994" y="266700"/>
            <a:ext cx="9412011" cy="82073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399">
                <a:solidFill>
                  <a:srgbClr val="1A426A"/>
                </a:solidFill>
                <a:latin typeface="Arial"/>
                <a:ea typeface="Arial"/>
                <a:cs typeface="Arial"/>
                <a:sym typeface="Arial"/>
              </a:rPr>
              <a:t>ÇÖZÜM ÖNERİSİ</a:t>
            </a:r>
            <a:endParaRPr/>
          </a:p>
        </p:txBody>
      </p:sp>
      <p:sp>
        <p:nvSpPr>
          <p:cNvPr id="194" name="Google Shape;194;p5"/>
          <p:cNvSpPr txBox="1"/>
          <p:nvPr/>
        </p:nvSpPr>
        <p:spPr>
          <a:xfrm>
            <a:off x="1219200" y="1995787"/>
            <a:ext cx="12840900" cy="5541300"/>
          </a:xfrm>
          <a:prstGeom prst="rect">
            <a:avLst/>
          </a:prstGeom>
          <a:noFill/>
          <a:ln>
            <a:noFill/>
          </a:ln>
        </p:spPr>
        <p:txBody>
          <a:bodyPr anchorCtr="0" anchor="t" bIns="0" lIns="0" spcFirstLastPara="1" rIns="0" wrap="square" tIns="0">
            <a:spAutoFit/>
          </a:bodyPr>
          <a:lstStyle/>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Proje/ fikre ait çözümün anlatıldığı sayfadır.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Çözüm </a:t>
            </a:r>
            <a:r>
              <a:rPr lang="en-US" sz="1800" u="sng">
                <a:solidFill>
                  <a:srgbClr val="FF0000"/>
                </a:solidFill>
              </a:rPr>
              <a:t>en fazla  üç</a:t>
            </a:r>
            <a:r>
              <a:rPr lang="en-US" sz="1800">
                <a:solidFill>
                  <a:srgbClr val="FF0000"/>
                </a:solidFill>
              </a:rPr>
              <a:t>(3) sayfada açıklanmalıdır. Sayfa sınırı aşılmamalıdır. İsteyen takımlar bir ve iki (1 )veya (2) sayfada anlatabilir.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Çözüm fikri, problem ile uyumlu olarak kapsamlı, yenilikçi ve etkili şekilde açıklanmalıdır.</a:t>
            </a:r>
            <a:endParaRPr sz="1800">
              <a:solidFill>
                <a:srgbClr val="FF0000"/>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Problem ile alakalı daha önce sunulan ya da üretilen çözüm önerilerinden bahsedilebilir.</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Çözüm; literatürdeki ve piyasadaki mevcut çözümlerle karşılaştırılmalı, bu çözümlerden ayrışan yönleri somut biçimde ortaya konmalıdır. </a:t>
            </a:r>
            <a:endParaRPr>
              <a:solidFill>
                <a:schemeClr val="dk1"/>
              </a:solidFill>
            </a:endParaRPr>
          </a:p>
          <a:p>
            <a:pPr indent="-194310" lvl="1" marL="388620" rtl="0" algn="l">
              <a:lnSpc>
                <a:spcPct val="160000"/>
              </a:lnSpc>
              <a:spcBef>
                <a:spcPts val="0"/>
              </a:spcBef>
              <a:spcAft>
                <a:spcPts val="0"/>
              </a:spcAft>
              <a:buClr>
                <a:srgbClr val="FF0000"/>
              </a:buClr>
              <a:buSzPts val="1800"/>
              <a:buChar char="•"/>
            </a:pPr>
            <a:r>
              <a:rPr lang="en-US" sz="1800">
                <a:solidFill>
                  <a:srgbClr val="FF0000"/>
                </a:solidFill>
              </a:rPr>
              <a:t>Projenin kullanıcıya ve sosyal medya ekosistemine sağlayacağı katkı açık bir şekilde anlatılmalıdır.</a:t>
            </a:r>
            <a:br>
              <a:rPr lang="en-US" sz="1800">
                <a:solidFill>
                  <a:srgbClr val="FF0000"/>
                </a:solidFill>
              </a:rPr>
            </a:br>
            <a:br>
              <a:rPr lang="en-US" sz="1800">
                <a:solidFill>
                  <a:srgbClr val="FF0000"/>
                </a:solidFill>
              </a:rPr>
            </a:br>
            <a:endParaRPr sz="1800">
              <a:solidFill>
                <a:srgbClr val="FF0000"/>
              </a:solidFill>
            </a:endParaRPr>
          </a:p>
          <a:p>
            <a:pPr indent="0" lvl="1" marL="194311" rtl="0" algn="l">
              <a:lnSpc>
                <a:spcPct val="140000"/>
              </a:lnSpc>
              <a:spcBef>
                <a:spcPts val="0"/>
              </a:spcBef>
              <a:spcAft>
                <a:spcPts val="0"/>
              </a:spcAft>
              <a:buClr>
                <a:schemeClr val="dk1"/>
              </a:buClr>
              <a:buFont typeface="Arial"/>
              <a:buNone/>
            </a:pPr>
            <a:r>
              <a:rPr lang="en-US" sz="1800">
                <a:solidFill>
                  <a:srgbClr val="FF0000"/>
                </a:solidFill>
              </a:rPr>
              <a:t>Sayfalarda görsellerden (tablolar, akış diyagramı , infografik vb.) yararlanabilirsiniz.</a:t>
            </a:r>
            <a:endParaRPr sz="1800">
              <a:solidFill>
                <a:srgbClr val="FF0000"/>
              </a:solidFill>
            </a:endParaRPr>
          </a:p>
          <a:p>
            <a:pPr indent="0" lvl="1" marL="194310" marR="0" rtl="0" algn="l">
              <a:lnSpc>
                <a:spcPct val="160000"/>
              </a:lnSpc>
              <a:spcBef>
                <a:spcPts val="0"/>
              </a:spcBef>
              <a:spcAft>
                <a:spcPts val="0"/>
              </a:spcAft>
              <a:buNone/>
            </a:pPr>
            <a:r>
              <a:t/>
            </a:r>
            <a:endParaRPr b="0" i="0" sz="1800" u="none" cap="none" strike="noStrike">
              <a:solidFill>
                <a:srgbClr val="DE2223"/>
              </a:solidFill>
              <a:latin typeface="Arial"/>
              <a:ea typeface="Arial"/>
              <a:cs typeface="Arial"/>
              <a:sym typeface="Arial"/>
            </a:endParaRPr>
          </a:p>
          <a:p>
            <a:pPr indent="0" lvl="0" marL="0" marR="0" rtl="0" algn="l">
              <a:lnSpc>
                <a:spcPct val="160000"/>
              </a:lnSpc>
              <a:spcBef>
                <a:spcPts val="0"/>
              </a:spcBef>
              <a:spcAft>
                <a:spcPts val="0"/>
              </a:spcAft>
              <a:buNone/>
            </a:pPr>
            <a:r>
              <a:t/>
            </a:r>
            <a:endParaRPr sz="1800">
              <a:solidFill>
                <a:srgbClr val="DE2223"/>
              </a:solidFill>
              <a:latin typeface="Arial"/>
              <a:ea typeface="Arial"/>
              <a:cs typeface="Arial"/>
              <a:sym typeface="Arial"/>
            </a:endParaRPr>
          </a:p>
        </p:txBody>
      </p:sp>
      <p:cxnSp>
        <p:nvCxnSpPr>
          <p:cNvPr id="195" name="Google Shape;195;p5"/>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196" name="Google Shape;196;p5"/>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197" name="Google Shape;197;p5"/>
          <p:cNvSpPr txBox="1"/>
          <p:nvPr/>
        </p:nvSpPr>
        <p:spPr>
          <a:xfrm>
            <a:off x="15762030" y="3405481"/>
            <a:ext cx="1660989" cy="257315"/>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198" name="Google Shape;198;p5"/>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199" name="Google Shape;199;p5"/>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200" name="Google Shape;200;p5"/>
          <p:cNvSpPr txBox="1"/>
          <p:nvPr/>
        </p:nvSpPr>
        <p:spPr>
          <a:xfrm>
            <a:off x="15762030" y="6813857"/>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201" name="Google Shape;201;p5"/>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202" name="Google Shape;202;p5"/>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5"/>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5"/>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5"/>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5"/>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5"/>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5"/>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5"/>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5"/>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211" name="Google Shape;211;p5"/>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5"/>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5"/>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214" name="Google Shape;214;p5"/>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5"/>
          <p:cNvSpPr txBox="1"/>
          <p:nvPr/>
        </p:nvSpPr>
        <p:spPr>
          <a:xfrm>
            <a:off x="15788811" y="4076700"/>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216" name="Google Shape;216;p5"/>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sp>
        <p:nvSpPr>
          <p:cNvPr id="221" name="Google Shape;221;p6"/>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222" name="Google Shape;222;p6"/>
          <p:cNvSpPr txBox="1"/>
          <p:nvPr/>
        </p:nvSpPr>
        <p:spPr>
          <a:xfrm>
            <a:off x="4437994" y="266700"/>
            <a:ext cx="9412011" cy="82073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399">
                <a:solidFill>
                  <a:srgbClr val="1A426A"/>
                </a:solidFill>
                <a:latin typeface="Arial"/>
                <a:ea typeface="Arial"/>
                <a:cs typeface="Arial"/>
                <a:sym typeface="Arial"/>
              </a:rPr>
              <a:t>YÖNTEM</a:t>
            </a:r>
            <a:endParaRPr/>
          </a:p>
        </p:txBody>
      </p:sp>
      <p:sp>
        <p:nvSpPr>
          <p:cNvPr id="223" name="Google Shape;223;p6"/>
          <p:cNvSpPr txBox="1"/>
          <p:nvPr/>
        </p:nvSpPr>
        <p:spPr>
          <a:xfrm>
            <a:off x="1219200" y="2073322"/>
            <a:ext cx="12840900" cy="5319600"/>
          </a:xfrm>
          <a:prstGeom prst="rect">
            <a:avLst/>
          </a:prstGeom>
          <a:noFill/>
          <a:ln>
            <a:noFill/>
          </a:ln>
        </p:spPr>
        <p:txBody>
          <a:bodyPr anchorCtr="0" anchor="t" bIns="0" lIns="0" spcFirstLastPara="1" rIns="0" wrap="square" tIns="0">
            <a:spAutoFit/>
          </a:bodyPr>
          <a:lstStyle/>
          <a:p>
            <a:pPr indent="-342900" lvl="1" marL="914400" rtl="0" algn="l">
              <a:lnSpc>
                <a:spcPct val="140000"/>
              </a:lnSpc>
              <a:spcBef>
                <a:spcPts val="0"/>
              </a:spcBef>
              <a:spcAft>
                <a:spcPts val="0"/>
              </a:spcAft>
              <a:buClr>
                <a:srgbClr val="FF0000"/>
              </a:buClr>
              <a:buSzPts val="1800"/>
              <a:buChar char="•"/>
            </a:pPr>
            <a:r>
              <a:rPr lang="en-US" sz="1800">
                <a:solidFill>
                  <a:srgbClr val="FF0000"/>
                </a:solidFill>
              </a:rPr>
              <a:t>Projede önerilen önerilen çözümün gerçekleştirilmesi için kullanılacak yöntemlerin ve geliştirilen sistemin /ürünün teknik yapısının açıklandığı bölümdür.</a:t>
            </a:r>
            <a:endParaRPr>
              <a:solidFill>
                <a:schemeClr val="dk1"/>
              </a:solidFill>
            </a:endParaRPr>
          </a:p>
          <a:p>
            <a:pPr indent="-342900" lvl="1" marL="914400" rtl="0" algn="l">
              <a:lnSpc>
                <a:spcPct val="140000"/>
              </a:lnSpc>
              <a:spcBef>
                <a:spcPts val="0"/>
              </a:spcBef>
              <a:spcAft>
                <a:spcPts val="0"/>
              </a:spcAft>
              <a:buClr>
                <a:srgbClr val="FF0000"/>
              </a:buClr>
              <a:buSzPts val="1800"/>
              <a:buChar char="•"/>
            </a:pPr>
            <a:r>
              <a:rPr lang="en-US" sz="1800">
                <a:solidFill>
                  <a:srgbClr val="FF0000"/>
                </a:solidFill>
              </a:rPr>
              <a:t> Yöntem </a:t>
            </a:r>
            <a:r>
              <a:rPr lang="en-US" sz="1800" u="sng">
                <a:solidFill>
                  <a:srgbClr val="FF0000"/>
                </a:solidFill>
              </a:rPr>
              <a:t>en fazla iki  </a:t>
            </a:r>
            <a:r>
              <a:rPr lang="en-US" sz="1800">
                <a:solidFill>
                  <a:srgbClr val="FF0000"/>
                </a:solidFill>
              </a:rPr>
              <a:t>(2) sayfada açıklanmalıdır. </a:t>
            </a:r>
            <a:r>
              <a:rPr lang="en-US" sz="1800" u="sng">
                <a:solidFill>
                  <a:srgbClr val="FF0000"/>
                </a:solidFill>
              </a:rPr>
              <a:t>Sayfa sınırı</a:t>
            </a:r>
            <a:r>
              <a:rPr lang="en-US" sz="1800">
                <a:solidFill>
                  <a:srgbClr val="FF0000"/>
                </a:solidFill>
              </a:rPr>
              <a:t> aşılmamalıdır. İsteyen takımlar bir (1) sayfada anlatabilir.</a:t>
            </a:r>
            <a:endParaRPr>
              <a:solidFill>
                <a:schemeClr val="dk1"/>
              </a:solidFill>
            </a:endParaRPr>
          </a:p>
          <a:p>
            <a:pPr indent="-342900" lvl="1" marL="914400" rtl="0" algn="l">
              <a:lnSpc>
                <a:spcPct val="140000"/>
              </a:lnSpc>
              <a:spcBef>
                <a:spcPts val="0"/>
              </a:spcBef>
              <a:spcAft>
                <a:spcPts val="0"/>
              </a:spcAft>
              <a:buClr>
                <a:srgbClr val="FF0000"/>
              </a:buClr>
              <a:buSzPts val="1800"/>
              <a:buChar char="•"/>
            </a:pPr>
            <a:r>
              <a:rPr lang="en-US" sz="1800">
                <a:solidFill>
                  <a:srgbClr val="FF0000"/>
                </a:solidFill>
              </a:rPr>
              <a:t>Problem çözümü için seçilen yöntem, izlenecek metot/deney, kullanılacak malzemelerle (teknolojiler, araçlar, veri setleri, modeller ve analiz yöntemleriyle… )</a:t>
            </a:r>
            <a:endParaRPr>
              <a:solidFill>
                <a:schemeClr val="dk1"/>
              </a:solidFill>
            </a:endParaRPr>
          </a:p>
          <a:p>
            <a:pPr indent="-342900" lvl="1" marL="914400" rtl="0" algn="l">
              <a:lnSpc>
                <a:spcPct val="140000"/>
              </a:lnSpc>
              <a:spcBef>
                <a:spcPts val="0"/>
              </a:spcBef>
              <a:spcAft>
                <a:spcPts val="0"/>
              </a:spcAft>
              <a:buClr>
                <a:srgbClr val="FF0000"/>
              </a:buClr>
              <a:buSzPts val="1800"/>
              <a:buChar char="•"/>
            </a:pPr>
            <a:r>
              <a:rPr lang="en-US" sz="1800">
                <a:solidFill>
                  <a:srgbClr val="FF0000"/>
                </a:solidFill>
              </a:rPr>
              <a:t>Literatürdeki teknik bilgilerden, formüllerden, kodlardan, vb. faydalanılarak ortaya konan fikrin probleme çözüm olabileceği somutlaştırılmalıdır.</a:t>
            </a:r>
            <a:endParaRPr>
              <a:solidFill>
                <a:schemeClr val="dk1"/>
              </a:solidFill>
            </a:endParaRPr>
          </a:p>
          <a:p>
            <a:pPr indent="-342900" lvl="1" marL="914400" rtl="0" algn="l">
              <a:lnSpc>
                <a:spcPct val="140000"/>
              </a:lnSpc>
              <a:spcBef>
                <a:spcPts val="0"/>
              </a:spcBef>
              <a:spcAft>
                <a:spcPts val="0"/>
              </a:spcAft>
              <a:buClr>
                <a:srgbClr val="FF0000"/>
              </a:buClr>
              <a:buSzPts val="1800"/>
              <a:buChar char="•"/>
            </a:pPr>
            <a:r>
              <a:rPr lang="en-US" sz="1800">
                <a:solidFill>
                  <a:srgbClr val="FF0000"/>
                </a:solidFill>
              </a:rPr>
              <a:t>Özellikle sistem mimarisi gösterilmelidir. Projede yapay zeka veya veri analitiği bileşeni bulunuyorsa kullanılan model,veri/veri seti , veri işleme ve doğrulama yaklaşımı ile uygun performans veya kalite metriklerine yer verilmelidir.</a:t>
            </a:r>
            <a:endParaRPr>
              <a:solidFill>
                <a:schemeClr val="dk1"/>
              </a:solidFill>
            </a:endParaRPr>
          </a:p>
          <a:p>
            <a:pPr indent="-342900" lvl="1" marL="914400" rtl="0" algn="l">
              <a:lnSpc>
                <a:spcPct val="140000"/>
              </a:lnSpc>
              <a:spcBef>
                <a:spcPts val="0"/>
              </a:spcBef>
              <a:spcAft>
                <a:spcPts val="0"/>
              </a:spcAft>
              <a:buClr>
                <a:srgbClr val="FF0000"/>
              </a:buClr>
              <a:buSzPts val="1800"/>
              <a:buChar char="•"/>
            </a:pPr>
            <a:r>
              <a:rPr lang="en-US" sz="1800">
                <a:solidFill>
                  <a:srgbClr val="FF0000"/>
                </a:solidFill>
              </a:rPr>
              <a:t>Varsa veri güvenliği, kullanıcı mahremiyeti ve etik yaklaşım kısaca açıklanmalıdır.</a:t>
            </a:r>
            <a:endParaRPr>
              <a:solidFill>
                <a:schemeClr val="dk1"/>
              </a:solidFill>
            </a:endParaRPr>
          </a:p>
          <a:p>
            <a:pPr indent="0" lvl="0" marL="0" rtl="0" algn="l">
              <a:lnSpc>
                <a:spcPct val="140000"/>
              </a:lnSpc>
              <a:spcBef>
                <a:spcPts val="0"/>
              </a:spcBef>
              <a:spcAft>
                <a:spcPts val="0"/>
              </a:spcAft>
              <a:buNone/>
            </a:pPr>
            <a:r>
              <a:t/>
            </a:r>
            <a:endParaRPr sz="1800">
              <a:solidFill>
                <a:srgbClr val="FF0000"/>
              </a:solidFill>
            </a:endParaRPr>
          </a:p>
          <a:p>
            <a:pPr indent="0" lvl="0" marL="194311" rtl="0" algn="l">
              <a:lnSpc>
                <a:spcPct val="140000"/>
              </a:lnSpc>
              <a:spcBef>
                <a:spcPts val="0"/>
              </a:spcBef>
              <a:spcAft>
                <a:spcPts val="0"/>
              </a:spcAft>
              <a:buNone/>
            </a:pPr>
            <a:r>
              <a:rPr lang="en-US" sz="1800">
                <a:solidFill>
                  <a:srgbClr val="FF0000"/>
                </a:solidFill>
              </a:rPr>
              <a:t>Sayfalarda görsellerden (tablolar, akış diyagramı , infografik vb.) yararlanabilirsiniz.</a:t>
            </a:r>
            <a:endParaRPr sz="1800">
              <a:solidFill>
                <a:srgbClr val="FF0000"/>
              </a:solidFill>
            </a:endParaRPr>
          </a:p>
          <a:p>
            <a:pPr indent="0" lvl="1" marL="194310" marR="0" rtl="0" algn="l">
              <a:lnSpc>
                <a:spcPct val="140000"/>
              </a:lnSpc>
              <a:spcBef>
                <a:spcPts val="0"/>
              </a:spcBef>
              <a:spcAft>
                <a:spcPts val="0"/>
              </a:spcAft>
              <a:buNone/>
            </a:pPr>
            <a:r>
              <a:t/>
            </a:r>
            <a:endParaRPr b="0" i="0" sz="1800" u="none" cap="none" strike="noStrike">
              <a:solidFill>
                <a:srgbClr val="FF0000"/>
              </a:solidFill>
              <a:latin typeface="Arial"/>
              <a:ea typeface="Arial"/>
              <a:cs typeface="Arial"/>
              <a:sym typeface="Arial"/>
            </a:endParaRPr>
          </a:p>
          <a:p>
            <a:pPr indent="0" lvl="1" marL="194311" marR="0" rtl="0" algn="l">
              <a:lnSpc>
                <a:spcPct val="140000"/>
              </a:lnSpc>
              <a:spcBef>
                <a:spcPts val="0"/>
              </a:spcBef>
              <a:spcAft>
                <a:spcPts val="0"/>
              </a:spcAft>
              <a:buNone/>
            </a:pPr>
            <a:r>
              <a:t/>
            </a:r>
            <a:endParaRPr b="0" i="0" sz="1800" u="none" cap="none" strike="noStrike">
              <a:solidFill>
                <a:srgbClr val="FF0000"/>
              </a:solidFill>
              <a:latin typeface="Arial"/>
              <a:ea typeface="Arial"/>
              <a:cs typeface="Arial"/>
              <a:sym typeface="Arial"/>
            </a:endParaRPr>
          </a:p>
        </p:txBody>
      </p:sp>
      <p:cxnSp>
        <p:nvCxnSpPr>
          <p:cNvPr id="224" name="Google Shape;224;p6"/>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225" name="Google Shape;225;p6"/>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226" name="Google Shape;226;p6"/>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227" name="Google Shape;227;p6"/>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228" name="Google Shape;228;p6"/>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229" name="Google Shape;229;p6"/>
          <p:cNvSpPr txBox="1"/>
          <p:nvPr/>
        </p:nvSpPr>
        <p:spPr>
          <a:xfrm>
            <a:off x="15748194" y="6765742"/>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230" name="Google Shape;230;p6"/>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231" name="Google Shape;231;p6"/>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6"/>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6"/>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6"/>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6"/>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6"/>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6"/>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6"/>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6"/>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240" name="Google Shape;240;p6"/>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6"/>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6"/>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243" name="Google Shape;243;p6"/>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6"/>
          <p:cNvSpPr txBox="1"/>
          <p:nvPr/>
        </p:nvSpPr>
        <p:spPr>
          <a:xfrm>
            <a:off x="16383000" y="4076700"/>
            <a:ext cx="1066800" cy="257315"/>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245" name="Google Shape;245;p6"/>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9" name="Shape 249"/>
        <p:cNvGrpSpPr/>
        <p:nvPr/>
      </p:nvGrpSpPr>
      <p:grpSpPr>
        <a:xfrm>
          <a:off x="0" y="0"/>
          <a:ext cx="0" cy="0"/>
          <a:chOff x="0" y="0"/>
          <a:chExt cx="0" cy="0"/>
        </a:xfrm>
      </p:grpSpPr>
      <p:sp>
        <p:nvSpPr>
          <p:cNvPr id="250" name="Google Shape;250;p7"/>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251" name="Google Shape;251;p7"/>
          <p:cNvSpPr txBox="1"/>
          <p:nvPr/>
        </p:nvSpPr>
        <p:spPr>
          <a:xfrm>
            <a:off x="1360825" y="266700"/>
            <a:ext cx="15799500" cy="1862400"/>
          </a:xfrm>
          <a:prstGeom prst="rect">
            <a:avLst/>
          </a:prstGeom>
          <a:noFill/>
          <a:ln>
            <a:noFill/>
          </a:ln>
        </p:spPr>
        <p:txBody>
          <a:bodyPr anchorCtr="0" anchor="t" bIns="0" lIns="0" spcFirstLastPara="1" rIns="0" wrap="square" tIns="0">
            <a:spAutoFit/>
          </a:bodyPr>
          <a:lstStyle/>
          <a:p>
            <a:pPr indent="0" lvl="0" marL="0" marR="0" rtl="0" algn="ctr">
              <a:lnSpc>
                <a:spcPct val="112263"/>
              </a:lnSpc>
              <a:spcBef>
                <a:spcPts val="0"/>
              </a:spcBef>
              <a:spcAft>
                <a:spcPts val="0"/>
              </a:spcAft>
              <a:buNone/>
            </a:pPr>
            <a:r>
              <a:rPr lang="en-US" sz="5700">
                <a:solidFill>
                  <a:srgbClr val="1A426A"/>
                </a:solidFill>
                <a:latin typeface="Arial"/>
                <a:ea typeface="Arial"/>
                <a:cs typeface="Arial"/>
                <a:sym typeface="Arial"/>
              </a:rPr>
              <a:t>PROTOTİP/ UYGULAMA GELİŞTİRME</a:t>
            </a:r>
            <a:r>
              <a:rPr lang="en-US" sz="5700">
                <a:solidFill>
                  <a:srgbClr val="1A426A"/>
                </a:solidFill>
                <a:latin typeface="Arial"/>
                <a:ea typeface="Arial"/>
                <a:cs typeface="Arial"/>
                <a:sym typeface="Arial"/>
              </a:rPr>
              <a:t> </a:t>
            </a:r>
            <a:r>
              <a:rPr lang="en-US" sz="5700">
                <a:solidFill>
                  <a:srgbClr val="1A426A"/>
                </a:solidFill>
                <a:latin typeface="Arial"/>
                <a:ea typeface="Arial"/>
                <a:cs typeface="Arial"/>
                <a:sym typeface="Arial"/>
              </a:rPr>
              <a:t>DURUMU </a:t>
            </a:r>
            <a:endParaRPr/>
          </a:p>
        </p:txBody>
      </p:sp>
      <p:sp>
        <p:nvSpPr>
          <p:cNvPr id="252" name="Google Shape;252;p7"/>
          <p:cNvSpPr txBox="1"/>
          <p:nvPr/>
        </p:nvSpPr>
        <p:spPr>
          <a:xfrm>
            <a:off x="1360825" y="3009897"/>
            <a:ext cx="13106400" cy="4155900"/>
          </a:xfrm>
          <a:prstGeom prst="rect">
            <a:avLst/>
          </a:prstGeom>
          <a:noFill/>
          <a:ln>
            <a:noFill/>
          </a:ln>
        </p:spPr>
        <p:txBody>
          <a:bodyPr anchorCtr="0" anchor="t" bIns="0" lIns="0" spcFirstLastPara="1" rIns="0" wrap="square" tIns="0">
            <a:spAutoFit/>
          </a:bodyPr>
          <a:lstStyle/>
          <a:p>
            <a:pPr indent="-342900" lvl="1" marL="914400" rtl="0" algn="just">
              <a:lnSpc>
                <a:spcPct val="140000"/>
              </a:lnSpc>
              <a:spcBef>
                <a:spcPts val="0"/>
              </a:spcBef>
              <a:spcAft>
                <a:spcPts val="0"/>
              </a:spcAft>
              <a:buClr>
                <a:srgbClr val="FF0000"/>
              </a:buClr>
              <a:buSzPts val="1800"/>
              <a:buChar char="•"/>
            </a:pPr>
            <a:r>
              <a:rPr lang="en-US" sz="1800">
                <a:solidFill>
                  <a:srgbClr val="FF0000"/>
                </a:solidFill>
              </a:rPr>
              <a:t>Bu bölümde, proje fikrinizin somut bir ürüne dönüşme süreci detaylı bir şekilde açıklanmalıdır. Proje kapsamında prototip geliştirilip geliştirilmediği belirtilmeli; varsa prototipe ait görseller, prototip yoksa tasarımsal çalışmanızın görselleri ya da demo görselleri sunuma eklenmelidir.</a:t>
            </a:r>
            <a:endParaRPr>
              <a:solidFill>
                <a:schemeClr val="dk1"/>
              </a:solidFill>
            </a:endParaRPr>
          </a:p>
          <a:p>
            <a:pPr indent="-342900" lvl="1" marL="914400" rtl="0" algn="just">
              <a:lnSpc>
                <a:spcPct val="140000"/>
              </a:lnSpc>
              <a:spcBef>
                <a:spcPts val="0"/>
              </a:spcBef>
              <a:spcAft>
                <a:spcPts val="0"/>
              </a:spcAft>
              <a:buClr>
                <a:srgbClr val="FF0000"/>
              </a:buClr>
              <a:buSzPts val="1800"/>
              <a:buChar char="•"/>
            </a:pPr>
            <a:r>
              <a:rPr lang="en-US" sz="1800">
                <a:solidFill>
                  <a:srgbClr val="FF0000"/>
                </a:solidFill>
              </a:rPr>
              <a:t>Prototipin geliştirme süreci; tasarım, geliştirme/kodlama, entegrasyon ve test aşamaları şeklinde açıklanmalı, bu aşamalardan hangilerinin tamamlandığı belirtilmelidir. Henüz tamamlanmamış olan kısımlar varsa, üzerinde çalışılan alanlar açıklanmalıdır.</a:t>
            </a:r>
            <a:endParaRPr>
              <a:solidFill>
                <a:schemeClr val="dk1"/>
              </a:solidFill>
            </a:endParaRPr>
          </a:p>
          <a:p>
            <a:pPr indent="-342900" lvl="1" marL="914400" rtl="0" algn="just">
              <a:lnSpc>
                <a:spcPct val="140000"/>
              </a:lnSpc>
              <a:spcBef>
                <a:spcPts val="0"/>
              </a:spcBef>
              <a:spcAft>
                <a:spcPts val="0"/>
              </a:spcAft>
              <a:buClr>
                <a:srgbClr val="FF0000"/>
              </a:buClr>
              <a:buSzPts val="1800"/>
              <a:buChar char="•"/>
            </a:pPr>
            <a:r>
              <a:rPr lang="en-US" sz="1800">
                <a:solidFill>
                  <a:srgbClr val="FF0000"/>
                </a:solidFill>
              </a:rPr>
              <a:t>Kullanıcı akışı ve temel arayüz ekranları gösterilmelidir.Arayüz tasarım kararları ve erişilebilirlik yaklaşımı kısaca açıklanmalıdır.Kullanıcı araştırma ve kullanılabilirlik testi gerçekleştirilmişse sonuçları özetlenmelidir.</a:t>
            </a:r>
            <a:endParaRPr>
              <a:solidFill>
                <a:schemeClr val="dk1"/>
              </a:solidFill>
            </a:endParaRPr>
          </a:p>
          <a:p>
            <a:pPr indent="-80010" lvl="0" marL="388620" rtl="0" algn="just">
              <a:lnSpc>
                <a:spcPct val="140000"/>
              </a:lnSpc>
              <a:spcBef>
                <a:spcPts val="0"/>
              </a:spcBef>
              <a:spcAft>
                <a:spcPts val="0"/>
              </a:spcAft>
              <a:buNone/>
            </a:pPr>
            <a:r>
              <a:t/>
            </a:r>
            <a:endParaRPr sz="1800">
              <a:solidFill>
                <a:srgbClr val="FF0000"/>
              </a:solidFill>
            </a:endParaRPr>
          </a:p>
          <a:p>
            <a:pPr indent="-342900" lvl="1" marL="914400" rtl="0" algn="just">
              <a:lnSpc>
                <a:spcPct val="140000"/>
              </a:lnSpc>
              <a:spcBef>
                <a:spcPts val="0"/>
              </a:spcBef>
              <a:spcAft>
                <a:spcPts val="0"/>
              </a:spcAft>
              <a:buClr>
                <a:srgbClr val="FF0000"/>
              </a:buClr>
              <a:buSzPts val="1800"/>
              <a:buChar char="•"/>
            </a:pPr>
            <a:r>
              <a:rPr lang="en-US" sz="1800">
                <a:solidFill>
                  <a:srgbClr val="FF0000"/>
                </a:solidFill>
              </a:rPr>
              <a:t>Prototip/ Uygulama Geliştirme Durumu </a:t>
            </a:r>
            <a:r>
              <a:rPr lang="en-US" sz="1800" u="sng">
                <a:solidFill>
                  <a:srgbClr val="FF0000"/>
                </a:solidFill>
              </a:rPr>
              <a:t>en fazla bir </a:t>
            </a:r>
            <a:r>
              <a:rPr lang="en-US" sz="1800">
                <a:solidFill>
                  <a:srgbClr val="FF0000"/>
                </a:solidFill>
              </a:rPr>
              <a:t>(1) sayfada açıklanmalıdır.</a:t>
            </a:r>
            <a:endParaRPr sz="1800">
              <a:solidFill>
                <a:srgbClr val="FF0000"/>
              </a:solidFill>
            </a:endParaRPr>
          </a:p>
          <a:p>
            <a:pPr indent="0" lvl="1" marL="194310" marR="0" rtl="0" algn="just">
              <a:lnSpc>
                <a:spcPct val="140000"/>
              </a:lnSpc>
              <a:spcBef>
                <a:spcPts val="0"/>
              </a:spcBef>
              <a:spcAft>
                <a:spcPts val="0"/>
              </a:spcAft>
              <a:buNone/>
            </a:pPr>
            <a:r>
              <a:t/>
            </a:r>
            <a:endParaRPr b="0" i="0" sz="1800" u="none" cap="none" strike="noStrike">
              <a:solidFill>
                <a:srgbClr val="DE2223"/>
              </a:solidFill>
              <a:latin typeface="Arial"/>
              <a:ea typeface="Arial"/>
              <a:cs typeface="Arial"/>
              <a:sym typeface="Arial"/>
            </a:endParaRPr>
          </a:p>
        </p:txBody>
      </p:sp>
      <p:cxnSp>
        <p:nvCxnSpPr>
          <p:cNvPr id="253" name="Google Shape;253;p7"/>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254" name="Google Shape;254;p7"/>
          <p:cNvSpPr txBox="1"/>
          <p:nvPr/>
        </p:nvSpPr>
        <p:spPr>
          <a:xfrm>
            <a:off x="15123636" y="4610100"/>
            <a:ext cx="2331255"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255" name="Google Shape;255;p7"/>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256" name="Google Shape;256;p7"/>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257" name="Google Shape;257;p7"/>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258" name="Google Shape;258;p7"/>
          <p:cNvSpPr txBox="1"/>
          <p:nvPr/>
        </p:nvSpPr>
        <p:spPr>
          <a:xfrm>
            <a:off x="15794662" y="6749116"/>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a:t>
            </a:r>
            <a:endParaRPr sz="1550">
              <a:solidFill>
                <a:srgbClr val="1C4C61"/>
              </a:solidFill>
              <a:latin typeface="Arial"/>
              <a:ea typeface="Arial"/>
              <a:cs typeface="Arial"/>
              <a:sym typeface="Arial"/>
            </a:endParaRPr>
          </a:p>
        </p:txBody>
      </p:sp>
      <p:sp>
        <p:nvSpPr>
          <p:cNvPr id="259" name="Google Shape;259;p7"/>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260" name="Google Shape;260;p7"/>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7"/>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7"/>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7"/>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7"/>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7"/>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7"/>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7"/>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7"/>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269" name="Google Shape;269;p7"/>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7"/>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7"/>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272" name="Google Shape;272;p7"/>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7"/>
          <p:cNvSpPr txBox="1"/>
          <p:nvPr/>
        </p:nvSpPr>
        <p:spPr>
          <a:xfrm>
            <a:off x="16004968" y="4076700"/>
            <a:ext cx="1444832"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274" name="Google Shape;274;p7"/>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8"/>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280" name="Google Shape;280;p8"/>
          <p:cNvSpPr txBox="1"/>
          <p:nvPr/>
        </p:nvSpPr>
        <p:spPr>
          <a:xfrm>
            <a:off x="1654250" y="266700"/>
            <a:ext cx="15367800" cy="1908600"/>
          </a:xfrm>
          <a:prstGeom prst="rect">
            <a:avLst/>
          </a:prstGeom>
          <a:noFill/>
          <a:ln>
            <a:noFill/>
          </a:ln>
        </p:spPr>
        <p:txBody>
          <a:bodyPr anchorCtr="0" anchor="t" bIns="0" lIns="0" spcFirstLastPara="1" rIns="0" wrap="square" tIns="0">
            <a:spAutoFit/>
          </a:bodyPr>
          <a:lstStyle/>
          <a:p>
            <a:pPr indent="0" lvl="0" marL="0" marR="0" rtl="0" algn="ctr">
              <a:lnSpc>
                <a:spcPct val="106649"/>
              </a:lnSpc>
              <a:spcBef>
                <a:spcPts val="0"/>
              </a:spcBef>
              <a:spcAft>
                <a:spcPts val="0"/>
              </a:spcAft>
              <a:buNone/>
            </a:pPr>
            <a:r>
              <a:rPr lang="en-US" sz="6000">
                <a:solidFill>
                  <a:srgbClr val="1A426A"/>
                </a:solidFill>
                <a:latin typeface="Arial"/>
                <a:ea typeface="Arial"/>
                <a:cs typeface="Arial"/>
                <a:sym typeface="Arial"/>
              </a:rPr>
              <a:t>UYGULANABİLİRLİK VE SÜRDÜRÜLEBİLİRİLİK</a:t>
            </a:r>
            <a:endParaRPr sz="6000">
              <a:solidFill>
                <a:srgbClr val="1A426A"/>
              </a:solidFill>
              <a:latin typeface="Arial"/>
              <a:ea typeface="Arial"/>
              <a:cs typeface="Arial"/>
              <a:sym typeface="Arial"/>
            </a:endParaRPr>
          </a:p>
        </p:txBody>
      </p:sp>
      <p:sp>
        <p:nvSpPr>
          <p:cNvPr id="281" name="Google Shape;281;p8"/>
          <p:cNvSpPr txBox="1"/>
          <p:nvPr/>
        </p:nvSpPr>
        <p:spPr>
          <a:xfrm>
            <a:off x="1242275" y="2636706"/>
            <a:ext cx="13106400" cy="5707500"/>
          </a:xfrm>
          <a:prstGeom prst="rect">
            <a:avLst/>
          </a:prstGeom>
          <a:noFill/>
          <a:ln>
            <a:noFill/>
          </a:ln>
        </p:spPr>
        <p:txBody>
          <a:bodyPr anchorCtr="0" anchor="t" bIns="0" lIns="0" spcFirstLastPara="1" rIns="0" wrap="square" tIns="0">
            <a:spAutoFit/>
          </a:bodyPr>
          <a:lstStyle/>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Uygulanabilirlik ve Sürdürülebilirlik </a:t>
            </a:r>
            <a:r>
              <a:rPr lang="en-US" sz="1800" u="sng">
                <a:solidFill>
                  <a:srgbClr val="FF0000"/>
                </a:solidFill>
              </a:rPr>
              <a:t>en fazla </a:t>
            </a:r>
            <a:r>
              <a:rPr lang="en-US" sz="1800">
                <a:solidFill>
                  <a:srgbClr val="FF0000"/>
                </a:solidFill>
              </a:rPr>
              <a:t>iki (2) sayfada açıklanmalıdır. </a:t>
            </a:r>
            <a:r>
              <a:rPr lang="en-US" sz="1800" u="sng">
                <a:solidFill>
                  <a:srgbClr val="FF0000"/>
                </a:solidFill>
              </a:rPr>
              <a:t>Sayfa sınırı </a:t>
            </a:r>
            <a:r>
              <a:rPr lang="en-US" sz="1800">
                <a:solidFill>
                  <a:srgbClr val="FF0000"/>
                </a:solidFill>
              </a:rPr>
              <a:t>aşılmamalıdır. İsteyen takımlar bir (1) sayfada anlatabilir.</a:t>
            </a:r>
            <a:endParaRPr sz="1800">
              <a:solidFill>
                <a:srgbClr val="FF0000"/>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Ürün/proje hakkında detaylı bilgi içermelidir.</a:t>
            </a:r>
            <a:endParaRPr sz="1800">
              <a:solidFill>
                <a:srgbClr val="FF0000"/>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Sürdürülebilirlik başlığı için ise projenin başarıyla tamamlanmasının ardından uzun vadede devamlılığının nasıl sağlanacağı açıklanmalıdır. </a:t>
            </a:r>
            <a:endParaRPr sz="1800">
              <a:solidFill>
                <a:srgbClr val="FF0000"/>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Ayrıca projenin finansal , teknik ve sosyal sürdürülebilirlik ilkeleri ile ilgili bölümleri (varsa) detaylıca açıklanmalıdır.</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Projenin kullanıcı sayısı veya kullanım yoğunluğu arttığında da çalışabilecek ve ölçeklenebilecek şekilde planlanıp planlanmadığı bu bölümde belirtilmelidir.</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Projenin iş /gelir modeli, ticarileştirme potansiyeli ve uzun vadeli sürdürülebilirlik yaklaşımı açıklanmalıdır.</a:t>
            </a:r>
            <a:endParaRPr>
              <a:solidFill>
                <a:schemeClr val="dk1"/>
              </a:solidFill>
            </a:endParaRPr>
          </a:p>
          <a:p>
            <a:pPr indent="0" lvl="1" marL="194310" rtl="0" algn="just">
              <a:lnSpc>
                <a:spcPct val="140000"/>
              </a:lnSpc>
              <a:spcBef>
                <a:spcPts val="0"/>
              </a:spcBef>
              <a:spcAft>
                <a:spcPts val="0"/>
              </a:spcAft>
              <a:buClr>
                <a:schemeClr val="dk1"/>
              </a:buClr>
              <a:buFont typeface="Arial"/>
              <a:buNone/>
            </a:pPr>
            <a:r>
              <a:t/>
            </a:r>
            <a:endParaRPr sz="1800">
              <a:solidFill>
                <a:srgbClr val="FF0000"/>
              </a:solidFill>
            </a:endParaRPr>
          </a:p>
          <a:p>
            <a:pPr indent="0" lvl="1" marL="194310" rtl="0" algn="just">
              <a:lnSpc>
                <a:spcPct val="140000"/>
              </a:lnSpc>
              <a:spcBef>
                <a:spcPts val="0"/>
              </a:spcBef>
              <a:spcAft>
                <a:spcPts val="0"/>
              </a:spcAft>
              <a:buClr>
                <a:schemeClr val="dk1"/>
              </a:buClr>
              <a:buFont typeface="Arial"/>
              <a:buNone/>
            </a:pPr>
            <a:r>
              <a:rPr lang="en-US" sz="1800">
                <a:solidFill>
                  <a:srgbClr val="FF0000"/>
                </a:solidFill>
              </a:rPr>
              <a:t>Sayfalarda görsellerden (tablolar, akış diyagramı , infografik vb.) yararlanabilirsiniz.</a:t>
            </a:r>
            <a:endParaRPr sz="1800">
              <a:solidFill>
                <a:srgbClr val="FF0000"/>
              </a:solidFill>
            </a:endParaRPr>
          </a:p>
          <a:p>
            <a:pPr indent="0" lvl="1" marL="194310" marR="0" rtl="0" algn="just">
              <a:lnSpc>
                <a:spcPct val="140000"/>
              </a:lnSpc>
              <a:spcBef>
                <a:spcPts val="0"/>
              </a:spcBef>
              <a:spcAft>
                <a:spcPts val="0"/>
              </a:spcAft>
              <a:buNone/>
            </a:pPr>
            <a:r>
              <a:t/>
            </a:r>
            <a:endParaRPr b="0" i="0" sz="1800" u="none" cap="none" strike="sngStrike">
              <a:solidFill>
                <a:srgbClr val="FF0000"/>
              </a:solidFill>
              <a:latin typeface="Arial"/>
              <a:ea typeface="Arial"/>
              <a:cs typeface="Arial"/>
              <a:sym typeface="Arial"/>
            </a:endParaRPr>
          </a:p>
          <a:p>
            <a:pPr indent="-80010" lvl="1" marL="388620" marR="0" rtl="0" algn="just">
              <a:lnSpc>
                <a:spcPct val="140000"/>
              </a:lnSpc>
              <a:spcBef>
                <a:spcPts val="0"/>
              </a:spcBef>
              <a:spcAft>
                <a:spcPts val="0"/>
              </a:spcAft>
              <a:buClr>
                <a:schemeClr val="dk1"/>
              </a:buClr>
              <a:buSzPts val="1800"/>
              <a:buFont typeface="Arial"/>
              <a:buNone/>
            </a:pPr>
            <a:r>
              <a:t/>
            </a:r>
            <a:endParaRPr b="0" i="0" sz="1800" u="none" cap="none" strike="noStrike">
              <a:solidFill>
                <a:srgbClr val="FF0000"/>
              </a:solidFill>
              <a:highlight>
                <a:srgbClr val="FFFF00"/>
              </a:highlight>
              <a:latin typeface="Arial"/>
              <a:ea typeface="Arial"/>
              <a:cs typeface="Arial"/>
              <a:sym typeface="Arial"/>
            </a:endParaRPr>
          </a:p>
          <a:p>
            <a:pPr indent="0" lvl="1" marL="194310" marR="0" rtl="0" algn="just">
              <a:lnSpc>
                <a:spcPct val="140000"/>
              </a:lnSpc>
              <a:spcBef>
                <a:spcPts val="0"/>
              </a:spcBef>
              <a:spcAft>
                <a:spcPts val="0"/>
              </a:spcAft>
              <a:buNone/>
            </a:pPr>
            <a:r>
              <a:t/>
            </a:r>
            <a:endParaRPr b="0" i="0" sz="1800" u="none" cap="none" strike="noStrike">
              <a:solidFill>
                <a:srgbClr val="FF0000"/>
              </a:solidFill>
              <a:highlight>
                <a:srgbClr val="FFFF00"/>
              </a:highlight>
              <a:latin typeface="Arial"/>
              <a:ea typeface="Arial"/>
              <a:cs typeface="Arial"/>
              <a:sym typeface="Arial"/>
            </a:endParaRPr>
          </a:p>
          <a:p>
            <a:pPr indent="0" lvl="1" marL="194310" marR="0" rtl="0" algn="just">
              <a:lnSpc>
                <a:spcPct val="140000"/>
              </a:lnSpc>
              <a:spcBef>
                <a:spcPts val="0"/>
              </a:spcBef>
              <a:spcAft>
                <a:spcPts val="0"/>
              </a:spcAft>
              <a:buNone/>
            </a:pPr>
            <a:r>
              <a:t/>
            </a:r>
            <a:endParaRPr b="0" i="0" sz="1800" u="none" cap="none" strike="noStrike">
              <a:solidFill>
                <a:srgbClr val="FF0000"/>
              </a:solidFill>
              <a:latin typeface="Arial"/>
              <a:ea typeface="Arial"/>
              <a:cs typeface="Arial"/>
              <a:sym typeface="Arial"/>
            </a:endParaRPr>
          </a:p>
        </p:txBody>
      </p:sp>
      <p:cxnSp>
        <p:nvCxnSpPr>
          <p:cNvPr id="282" name="Google Shape;282;p8"/>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283" name="Google Shape;283;p8"/>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284" name="Google Shape;284;p8"/>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285" name="Google Shape;285;p8"/>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286" name="Google Shape;286;p8"/>
          <p:cNvSpPr txBox="1"/>
          <p:nvPr/>
        </p:nvSpPr>
        <p:spPr>
          <a:xfrm>
            <a:off x="15217854" y="5372100"/>
            <a:ext cx="2198106"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287" name="Google Shape;287;p8"/>
          <p:cNvSpPr txBox="1"/>
          <p:nvPr/>
        </p:nvSpPr>
        <p:spPr>
          <a:xfrm>
            <a:off x="15720046" y="6813857"/>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288" name="Google Shape;288;p8"/>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289" name="Google Shape;289;p8"/>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8"/>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8"/>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8"/>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8"/>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8"/>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8"/>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8"/>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8"/>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298" name="Google Shape;298;p8"/>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8"/>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8"/>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301" name="Google Shape;301;p8"/>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8"/>
          <p:cNvSpPr txBox="1"/>
          <p:nvPr/>
        </p:nvSpPr>
        <p:spPr>
          <a:xfrm>
            <a:off x="16004968" y="4076700"/>
            <a:ext cx="1444832"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303" name="Google Shape;303;p8"/>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9"/>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309" name="Google Shape;309;p9"/>
          <p:cNvSpPr txBox="1"/>
          <p:nvPr/>
        </p:nvSpPr>
        <p:spPr>
          <a:xfrm>
            <a:off x="1654254" y="266700"/>
            <a:ext cx="14656674" cy="820738"/>
          </a:xfrm>
          <a:prstGeom prst="rect">
            <a:avLst/>
          </a:prstGeom>
          <a:noFill/>
          <a:ln>
            <a:noFill/>
          </a:ln>
        </p:spPr>
        <p:txBody>
          <a:bodyPr anchorCtr="0" anchor="t" bIns="0" lIns="0" spcFirstLastPara="1" rIns="0" wrap="square" tIns="0">
            <a:spAutoFit/>
          </a:bodyPr>
          <a:lstStyle/>
          <a:p>
            <a:pPr indent="0" lvl="0" marL="0" marR="0" rtl="0" algn="ctr">
              <a:lnSpc>
                <a:spcPct val="106649"/>
              </a:lnSpc>
              <a:spcBef>
                <a:spcPts val="0"/>
              </a:spcBef>
              <a:spcAft>
                <a:spcPts val="0"/>
              </a:spcAft>
              <a:buNone/>
            </a:pPr>
            <a:r>
              <a:rPr lang="en-US" sz="6000">
                <a:solidFill>
                  <a:srgbClr val="1A426A"/>
                </a:solidFill>
                <a:latin typeface="Arial"/>
                <a:ea typeface="Arial"/>
                <a:cs typeface="Arial"/>
                <a:sym typeface="Arial"/>
              </a:rPr>
              <a:t>ÖZGÜNLÜK VE YERLİLİK YÖNÜ </a:t>
            </a:r>
            <a:endParaRPr sz="6000">
              <a:solidFill>
                <a:srgbClr val="1A426A"/>
              </a:solidFill>
              <a:latin typeface="Arial"/>
              <a:ea typeface="Arial"/>
              <a:cs typeface="Arial"/>
              <a:sym typeface="Arial"/>
            </a:endParaRPr>
          </a:p>
        </p:txBody>
      </p:sp>
      <p:sp>
        <p:nvSpPr>
          <p:cNvPr id="310" name="Google Shape;310;p9"/>
          <p:cNvSpPr txBox="1"/>
          <p:nvPr/>
        </p:nvSpPr>
        <p:spPr>
          <a:xfrm>
            <a:off x="1219200" y="2121381"/>
            <a:ext cx="13106400" cy="4155900"/>
          </a:xfrm>
          <a:prstGeom prst="rect">
            <a:avLst/>
          </a:prstGeom>
          <a:noFill/>
          <a:ln>
            <a:noFill/>
          </a:ln>
        </p:spPr>
        <p:txBody>
          <a:bodyPr anchorCtr="0" anchor="t" bIns="0" lIns="0" spcFirstLastPara="1" rIns="0" wrap="square" tIns="0">
            <a:spAutoFit/>
          </a:bodyPr>
          <a:lstStyle/>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Özgünlük ve Yerlilik </a:t>
            </a:r>
            <a:r>
              <a:rPr lang="en-US" sz="1800" u="sng">
                <a:solidFill>
                  <a:srgbClr val="FF0000"/>
                </a:solidFill>
              </a:rPr>
              <a:t>en fazla iki</a:t>
            </a:r>
            <a:r>
              <a:rPr lang="en-US" sz="1800">
                <a:solidFill>
                  <a:srgbClr val="FF0000"/>
                </a:solidFill>
              </a:rPr>
              <a:t> (2) sayfada açıklanmalıdır. </a:t>
            </a:r>
            <a:r>
              <a:rPr lang="en-US" sz="1800" u="sng">
                <a:solidFill>
                  <a:srgbClr val="FF0000"/>
                </a:solidFill>
              </a:rPr>
              <a:t>Sayfa sınırı </a:t>
            </a:r>
            <a:r>
              <a:rPr lang="en-US" sz="1800">
                <a:solidFill>
                  <a:srgbClr val="FF0000"/>
                </a:solidFill>
              </a:rPr>
              <a:t>aşılmamalıdır. İsteyen takımlar bir (1) sayfada anlatabilir.</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Projenizin milli ve yerli özelliklerini ortaya çıkaran bileşen,teknoloji ,yöntem ve özgün unsurlar açıklanmalıdır.</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Projeyi, literatürde bulunan benzer çözümlerden ayıran özellik/özelliklerin neler olduğu açıklanır. </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Mevcut çözümlerden farkı bu başlık kapsamında detaylandırılarak ve karşılaştırma yapılarak anlatılmalıdır.</a:t>
            </a:r>
            <a:endParaRPr>
              <a:solidFill>
                <a:schemeClr val="dk1"/>
              </a:solidFill>
            </a:endParaRPr>
          </a:p>
          <a:p>
            <a:pPr indent="0" lvl="1" marL="194310" rtl="0" algn="just">
              <a:lnSpc>
                <a:spcPct val="140000"/>
              </a:lnSpc>
              <a:spcBef>
                <a:spcPts val="0"/>
              </a:spcBef>
              <a:spcAft>
                <a:spcPts val="0"/>
              </a:spcAft>
              <a:buClr>
                <a:schemeClr val="dk1"/>
              </a:buClr>
              <a:buFont typeface="Arial"/>
              <a:buNone/>
            </a:pPr>
            <a:r>
              <a:t/>
            </a:r>
            <a:endParaRPr sz="1800">
              <a:solidFill>
                <a:srgbClr val="FF0000"/>
              </a:solidFill>
            </a:endParaRPr>
          </a:p>
          <a:p>
            <a:pPr indent="0" lvl="1" marL="194310" rtl="0" algn="just">
              <a:lnSpc>
                <a:spcPct val="140000"/>
              </a:lnSpc>
              <a:spcBef>
                <a:spcPts val="0"/>
              </a:spcBef>
              <a:spcAft>
                <a:spcPts val="0"/>
              </a:spcAft>
              <a:buClr>
                <a:schemeClr val="dk1"/>
              </a:buClr>
              <a:buFont typeface="Arial"/>
              <a:buNone/>
            </a:pPr>
            <a:r>
              <a:rPr lang="en-US" sz="1800">
                <a:solidFill>
                  <a:srgbClr val="FF0000"/>
                </a:solidFill>
              </a:rPr>
              <a:t>Sayfalarda görsellerden (tablolar, akış diyagramı , infografik vb.) yararlanabilirsiniz.</a:t>
            </a:r>
            <a:endParaRPr sz="1800">
              <a:solidFill>
                <a:srgbClr val="FF0000"/>
              </a:solidFill>
            </a:endParaRPr>
          </a:p>
          <a:p>
            <a:pPr indent="0" lvl="1" marL="194310" marR="0" rtl="0" algn="just">
              <a:lnSpc>
                <a:spcPct val="140000"/>
              </a:lnSpc>
              <a:spcBef>
                <a:spcPts val="0"/>
              </a:spcBef>
              <a:spcAft>
                <a:spcPts val="0"/>
              </a:spcAft>
              <a:buNone/>
            </a:pPr>
            <a:r>
              <a:t/>
            </a:r>
            <a:endParaRPr sz="1800">
              <a:solidFill>
                <a:srgbClr val="FF0000"/>
              </a:solidFill>
            </a:endParaRPr>
          </a:p>
          <a:p>
            <a:pPr indent="0" lvl="1" marL="194310" marR="0" rtl="0" algn="just">
              <a:lnSpc>
                <a:spcPct val="140000"/>
              </a:lnSpc>
              <a:spcBef>
                <a:spcPts val="0"/>
              </a:spcBef>
              <a:spcAft>
                <a:spcPts val="0"/>
              </a:spcAft>
              <a:buNone/>
            </a:pPr>
            <a:r>
              <a:t/>
            </a:r>
            <a:endParaRPr b="0" i="0" sz="1800" u="none" cap="none" strike="noStrike">
              <a:solidFill>
                <a:srgbClr val="FF0000"/>
              </a:solidFill>
              <a:latin typeface="Arial"/>
              <a:ea typeface="Arial"/>
              <a:cs typeface="Arial"/>
              <a:sym typeface="Arial"/>
            </a:endParaRPr>
          </a:p>
          <a:p>
            <a:pPr indent="0" lvl="1" marL="194310" marR="0" rtl="0" algn="just">
              <a:lnSpc>
                <a:spcPct val="140000"/>
              </a:lnSpc>
              <a:spcBef>
                <a:spcPts val="0"/>
              </a:spcBef>
              <a:spcAft>
                <a:spcPts val="0"/>
              </a:spcAft>
              <a:buNone/>
            </a:pPr>
            <a:r>
              <a:t/>
            </a:r>
            <a:endParaRPr b="0" i="0" sz="1800" u="none" cap="none" strike="noStrike">
              <a:solidFill>
                <a:srgbClr val="FF0000"/>
              </a:solidFill>
              <a:highlight>
                <a:srgbClr val="FFFF00"/>
              </a:highlight>
              <a:latin typeface="Arial"/>
              <a:ea typeface="Arial"/>
              <a:cs typeface="Arial"/>
              <a:sym typeface="Arial"/>
            </a:endParaRPr>
          </a:p>
          <a:p>
            <a:pPr indent="0" lvl="1" marL="194310" marR="0" rtl="0" algn="just">
              <a:lnSpc>
                <a:spcPct val="140000"/>
              </a:lnSpc>
              <a:spcBef>
                <a:spcPts val="0"/>
              </a:spcBef>
              <a:spcAft>
                <a:spcPts val="0"/>
              </a:spcAft>
              <a:buNone/>
            </a:pPr>
            <a:r>
              <a:t/>
            </a:r>
            <a:endParaRPr b="0" i="0" sz="1800" u="none" cap="none" strike="noStrike">
              <a:solidFill>
                <a:srgbClr val="FF0000"/>
              </a:solidFill>
              <a:highlight>
                <a:srgbClr val="FFFF00"/>
              </a:highlight>
              <a:latin typeface="Arial"/>
              <a:ea typeface="Arial"/>
              <a:cs typeface="Arial"/>
              <a:sym typeface="Arial"/>
            </a:endParaRPr>
          </a:p>
        </p:txBody>
      </p:sp>
      <p:cxnSp>
        <p:nvCxnSpPr>
          <p:cNvPr id="311" name="Google Shape;311;p9"/>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312" name="Google Shape;312;p9"/>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313" name="Google Shape;313;p9"/>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314" name="Google Shape;314;p9"/>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315" name="Google Shape;315;p9"/>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316" name="Google Shape;316;p9"/>
          <p:cNvSpPr txBox="1"/>
          <p:nvPr/>
        </p:nvSpPr>
        <p:spPr>
          <a:xfrm>
            <a:off x="15729296" y="6782367"/>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317" name="Google Shape;317;p9"/>
          <p:cNvSpPr txBox="1"/>
          <p:nvPr/>
        </p:nvSpPr>
        <p:spPr>
          <a:xfrm>
            <a:off x="15668804" y="6134100"/>
            <a:ext cx="1724183"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318" name="Google Shape;318;p9"/>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9"/>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9"/>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9"/>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9"/>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9"/>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9"/>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9"/>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9"/>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327" name="Google Shape;327;p9"/>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9"/>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9"/>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330" name="Google Shape;330;p9"/>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9"/>
          <p:cNvSpPr txBox="1"/>
          <p:nvPr/>
        </p:nvSpPr>
        <p:spPr>
          <a:xfrm>
            <a:off x="16004968" y="4076700"/>
            <a:ext cx="1444832"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332" name="Google Shape;332;p9"/>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10"/>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22026 NSOSYAL İNOVASYON YARIŞMASI PROJE SUNUMU</a:t>
            </a:r>
            <a:endParaRPr/>
          </a:p>
        </p:txBody>
      </p:sp>
      <p:sp>
        <p:nvSpPr>
          <p:cNvPr id="338" name="Google Shape;338;p10"/>
          <p:cNvSpPr txBox="1"/>
          <p:nvPr/>
        </p:nvSpPr>
        <p:spPr>
          <a:xfrm>
            <a:off x="1654254" y="266700"/>
            <a:ext cx="14656674" cy="820738"/>
          </a:xfrm>
          <a:prstGeom prst="rect">
            <a:avLst/>
          </a:prstGeom>
          <a:noFill/>
          <a:ln>
            <a:noFill/>
          </a:ln>
        </p:spPr>
        <p:txBody>
          <a:bodyPr anchorCtr="0" anchor="t" bIns="0" lIns="0" spcFirstLastPara="1" rIns="0" wrap="square" tIns="0">
            <a:spAutoFit/>
          </a:bodyPr>
          <a:lstStyle/>
          <a:p>
            <a:pPr indent="0" lvl="0" marL="0" marR="0" rtl="0" algn="ctr">
              <a:lnSpc>
                <a:spcPct val="106649"/>
              </a:lnSpc>
              <a:spcBef>
                <a:spcPts val="0"/>
              </a:spcBef>
              <a:spcAft>
                <a:spcPts val="0"/>
              </a:spcAft>
              <a:buNone/>
            </a:pPr>
            <a:r>
              <a:rPr lang="en-US" sz="6000">
                <a:solidFill>
                  <a:srgbClr val="1A426A"/>
                </a:solidFill>
                <a:latin typeface="Arial"/>
                <a:ea typeface="Arial"/>
                <a:cs typeface="Arial"/>
                <a:sym typeface="Arial"/>
              </a:rPr>
              <a:t>HEDEF KİTLE VE YAYGIN ETKİ </a:t>
            </a:r>
            <a:endParaRPr sz="6000">
              <a:solidFill>
                <a:srgbClr val="1A426A"/>
              </a:solidFill>
              <a:latin typeface="Arial"/>
              <a:ea typeface="Arial"/>
              <a:cs typeface="Arial"/>
              <a:sym typeface="Arial"/>
            </a:endParaRPr>
          </a:p>
        </p:txBody>
      </p:sp>
      <p:sp>
        <p:nvSpPr>
          <p:cNvPr id="339" name="Google Shape;339;p10"/>
          <p:cNvSpPr txBox="1"/>
          <p:nvPr/>
        </p:nvSpPr>
        <p:spPr>
          <a:xfrm>
            <a:off x="1371600" y="2096133"/>
            <a:ext cx="13106400" cy="2992200"/>
          </a:xfrm>
          <a:prstGeom prst="rect">
            <a:avLst/>
          </a:prstGeom>
          <a:noFill/>
          <a:ln>
            <a:noFill/>
          </a:ln>
        </p:spPr>
        <p:txBody>
          <a:bodyPr anchorCtr="0" anchor="t" bIns="0" lIns="0" spcFirstLastPara="1" rIns="0" wrap="square" tIns="0">
            <a:spAutoFit/>
          </a:bodyPr>
          <a:lstStyle/>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Projenin hedef kitlesi ve yaygın etkisinin açıklandığı bölümdür. </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Hedef kitle ve yaygın etki </a:t>
            </a:r>
            <a:r>
              <a:rPr lang="en-US" sz="1800" u="sng">
                <a:solidFill>
                  <a:srgbClr val="FF0000"/>
                </a:solidFill>
              </a:rPr>
              <a:t>en fazla </a:t>
            </a:r>
            <a:r>
              <a:rPr lang="en-US" sz="1800">
                <a:solidFill>
                  <a:srgbClr val="FF0000"/>
                </a:solidFill>
              </a:rPr>
              <a:t>bir(1) sayfada açıklanmalıdır. </a:t>
            </a:r>
            <a:r>
              <a:rPr lang="en-US" sz="1800" u="sng">
                <a:solidFill>
                  <a:srgbClr val="FF0000"/>
                </a:solidFill>
              </a:rPr>
              <a:t>Sayfa sınırı </a:t>
            </a:r>
            <a:r>
              <a:rPr lang="en-US" sz="1800">
                <a:solidFill>
                  <a:srgbClr val="FF0000"/>
                </a:solidFill>
              </a:rPr>
              <a:t>aşılmamalıdır. </a:t>
            </a:r>
            <a:endParaRPr sz="1800">
              <a:solidFill>
                <a:srgbClr val="FF0000"/>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Hedef kitle, geliştirilen proje ile seçilen tematik alanın kapsamına uygun olarak açıkça tanımlanmalıdır. </a:t>
            </a:r>
            <a:endParaRPr>
              <a:solidFill>
                <a:schemeClr val="dk1"/>
              </a:solidFill>
            </a:endParaRPr>
          </a:p>
          <a:p>
            <a:pPr indent="-194310" lvl="1" marL="388620" rtl="0" algn="just">
              <a:lnSpc>
                <a:spcPct val="140000"/>
              </a:lnSpc>
              <a:spcBef>
                <a:spcPts val="0"/>
              </a:spcBef>
              <a:spcAft>
                <a:spcPts val="0"/>
              </a:spcAft>
              <a:buClr>
                <a:srgbClr val="FF0000"/>
              </a:buClr>
              <a:buSzPts val="1800"/>
              <a:buChar char="•"/>
            </a:pPr>
            <a:r>
              <a:rPr lang="en-US" sz="1800">
                <a:solidFill>
                  <a:srgbClr val="FF0000"/>
                </a:solidFill>
              </a:rPr>
              <a:t>Hedef kullanıcı, erişim potansiyeli ,sosyal medya ekosistemine katkı ve toplumsal fayda üzerinde durulmalıdır.</a:t>
            </a:r>
            <a:endParaRPr>
              <a:solidFill>
                <a:schemeClr val="dk1"/>
              </a:solidFill>
            </a:endParaRPr>
          </a:p>
          <a:p>
            <a:pPr indent="0" lvl="1" marL="194310" rtl="0" algn="just">
              <a:lnSpc>
                <a:spcPct val="140000"/>
              </a:lnSpc>
              <a:spcBef>
                <a:spcPts val="0"/>
              </a:spcBef>
              <a:spcAft>
                <a:spcPts val="0"/>
              </a:spcAft>
              <a:buClr>
                <a:schemeClr val="dk1"/>
              </a:buClr>
              <a:buFont typeface="Arial"/>
              <a:buNone/>
            </a:pPr>
            <a:r>
              <a:t/>
            </a:r>
            <a:endParaRPr sz="1800">
              <a:solidFill>
                <a:srgbClr val="FF0000"/>
              </a:solidFill>
            </a:endParaRPr>
          </a:p>
          <a:p>
            <a:pPr indent="0" lvl="1" marL="194311" rtl="0" algn="just">
              <a:lnSpc>
                <a:spcPct val="140000"/>
              </a:lnSpc>
              <a:spcBef>
                <a:spcPts val="0"/>
              </a:spcBef>
              <a:spcAft>
                <a:spcPts val="0"/>
              </a:spcAft>
              <a:buClr>
                <a:schemeClr val="dk1"/>
              </a:buClr>
              <a:buFont typeface="Arial"/>
              <a:buNone/>
            </a:pPr>
            <a:r>
              <a:rPr lang="en-US" sz="1800">
                <a:solidFill>
                  <a:srgbClr val="FF0000"/>
                </a:solidFill>
              </a:rPr>
              <a:t>Sayfada görsellerden (tablolar, akış diyagramı , infografik vb.) yararlanabilirsiniz.</a:t>
            </a:r>
            <a:endParaRPr sz="1800">
              <a:solidFill>
                <a:srgbClr val="FF0000"/>
              </a:solidFill>
            </a:endParaRPr>
          </a:p>
          <a:p>
            <a:pPr indent="0" lvl="1" marL="194310" marR="0" rtl="0" algn="just">
              <a:lnSpc>
                <a:spcPct val="140000"/>
              </a:lnSpc>
              <a:spcBef>
                <a:spcPts val="0"/>
              </a:spcBef>
              <a:spcAft>
                <a:spcPts val="0"/>
              </a:spcAft>
              <a:buNone/>
            </a:pPr>
            <a:r>
              <a:t/>
            </a:r>
            <a:endParaRPr b="0" i="0" sz="1800" u="none" cap="none" strike="noStrike">
              <a:solidFill>
                <a:srgbClr val="FF0000"/>
              </a:solidFill>
              <a:latin typeface="Arial"/>
              <a:ea typeface="Arial"/>
              <a:cs typeface="Arial"/>
              <a:sym typeface="Arial"/>
            </a:endParaRPr>
          </a:p>
          <a:p>
            <a:pPr indent="0" lvl="0" marL="0" marR="0" rtl="0" algn="just">
              <a:lnSpc>
                <a:spcPct val="264388"/>
              </a:lnSpc>
              <a:spcBef>
                <a:spcPts val="0"/>
              </a:spcBef>
              <a:spcAft>
                <a:spcPts val="0"/>
              </a:spcAft>
              <a:buNone/>
            </a:pPr>
            <a:r>
              <a:t/>
            </a:r>
            <a:endParaRPr sz="1800">
              <a:solidFill>
                <a:srgbClr val="FF0000"/>
              </a:solidFill>
              <a:latin typeface="Arial"/>
              <a:ea typeface="Arial"/>
              <a:cs typeface="Arial"/>
              <a:sym typeface="Arial"/>
            </a:endParaRPr>
          </a:p>
        </p:txBody>
      </p:sp>
      <p:cxnSp>
        <p:nvCxnSpPr>
          <p:cNvPr id="340" name="Google Shape;340;p10"/>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341" name="Google Shape;341;p10"/>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342" name="Google Shape;342;p10"/>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343" name="Google Shape;343;p10"/>
          <p:cNvSpPr txBox="1"/>
          <p:nvPr/>
        </p:nvSpPr>
        <p:spPr>
          <a:xfrm>
            <a:off x="15986302" y="7353300"/>
            <a:ext cx="1436949"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344" name="Google Shape;344;p10"/>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345" name="Google Shape;345;p10"/>
          <p:cNvSpPr txBox="1"/>
          <p:nvPr/>
        </p:nvSpPr>
        <p:spPr>
          <a:xfrm>
            <a:off x="15729296" y="6793768"/>
            <a:ext cx="1693723"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346" name="Google Shape;346;p10"/>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347" name="Google Shape;347;p10"/>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0"/>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0"/>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0"/>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0"/>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0"/>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0"/>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0"/>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0"/>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356" name="Google Shape;356;p10"/>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0"/>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0"/>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359" name="Google Shape;359;p10"/>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0"/>
          <p:cNvSpPr txBox="1"/>
          <p:nvPr/>
        </p:nvSpPr>
        <p:spPr>
          <a:xfrm>
            <a:off x="16004968" y="4076700"/>
            <a:ext cx="1444832"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361" name="Google Shape;361;p10"/>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5" name="Shape 365"/>
        <p:cNvGrpSpPr/>
        <p:nvPr/>
      </p:nvGrpSpPr>
      <p:grpSpPr>
        <a:xfrm>
          <a:off x="0" y="0"/>
          <a:ext cx="0" cy="0"/>
          <a:chOff x="0" y="0"/>
          <a:chExt cx="0" cy="0"/>
        </a:xfrm>
      </p:grpSpPr>
      <p:sp>
        <p:nvSpPr>
          <p:cNvPr id="366" name="Google Shape;366;p11"/>
          <p:cNvSpPr txBox="1"/>
          <p:nvPr/>
        </p:nvSpPr>
        <p:spPr>
          <a:xfrm>
            <a:off x="2590800" y="9563100"/>
            <a:ext cx="7994957" cy="256480"/>
          </a:xfrm>
          <a:prstGeom prst="rect">
            <a:avLst/>
          </a:prstGeom>
          <a:noFill/>
          <a:ln>
            <a:noFill/>
          </a:ln>
        </p:spPr>
        <p:txBody>
          <a:bodyPr anchorCtr="0" anchor="t" bIns="0" lIns="0" spcFirstLastPara="1" rIns="0" wrap="square" tIns="0">
            <a:spAutoFit/>
          </a:bodyPr>
          <a:lstStyle/>
          <a:p>
            <a:pPr indent="0" lvl="0" marL="0" marR="0" rtl="0" algn="ctr">
              <a:lnSpc>
                <a:spcPct val="111111"/>
              </a:lnSpc>
              <a:spcBef>
                <a:spcPts val="0"/>
              </a:spcBef>
              <a:spcAft>
                <a:spcPts val="0"/>
              </a:spcAft>
              <a:buNone/>
            </a:pPr>
            <a:r>
              <a:rPr lang="en-US" sz="1800">
                <a:solidFill>
                  <a:srgbClr val="1A426A"/>
                </a:solidFill>
                <a:latin typeface="Arial"/>
                <a:ea typeface="Arial"/>
                <a:cs typeface="Arial"/>
                <a:sym typeface="Arial"/>
              </a:rPr>
              <a:t>2026 NSOSYAL İNOVASYON YARIŞMASI PROJE SUNUMU</a:t>
            </a:r>
            <a:endParaRPr/>
          </a:p>
        </p:txBody>
      </p:sp>
      <p:sp>
        <p:nvSpPr>
          <p:cNvPr id="367" name="Google Shape;367;p11"/>
          <p:cNvSpPr txBox="1"/>
          <p:nvPr/>
        </p:nvSpPr>
        <p:spPr>
          <a:xfrm>
            <a:off x="1654254" y="266700"/>
            <a:ext cx="14656674" cy="820738"/>
          </a:xfrm>
          <a:prstGeom prst="rect">
            <a:avLst/>
          </a:prstGeom>
          <a:noFill/>
          <a:ln>
            <a:noFill/>
          </a:ln>
        </p:spPr>
        <p:txBody>
          <a:bodyPr anchorCtr="0" anchor="t" bIns="0" lIns="0" spcFirstLastPara="1" rIns="0" wrap="square" tIns="0">
            <a:spAutoFit/>
          </a:bodyPr>
          <a:lstStyle/>
          <a:p>
            <a:pPr indent="0" lvl="0" marL="0" marR="0" rtl="0" algn="ctr">
              <a:lnSpc>
                <a:spcPct val="106649"/>
              </a:lnSpc>
              <a:spcBef>
                <a:spcPts val="0"/>
              </a:spcBef>
              <a:spcAft>
                <a:spcPts val="0"/>
              </a:spcAft>
              <a:buNone/>
            </a:pPr>
            <a:r>
              <a:rPr lang="en-US" sz="6000">
                <a:solidFill>
                  <a:srgbClr val="1A426A"/>
                </a:solidFill>
                <a:latin typeface="Arial"/>
                <a:ea typeface="Arial"/>
                <a:cs typeface="Arial"/>
                <a:sym typeface="Arial"/>
              </a:rPr>
              <a:t>PROJE TAKVİMİ</a:t>
            </a:r>
            <a:endParaRPr sz="6000">
              <a:solidFill>
                <a:srgbClr val="1A426A"/>
              </a:solidFill>
              <a:latin typeface="Arial"/>
              <a:ea typeface="Arial"/>
              <a:cs typeface="Arial"/>
              <a:sym typeface="Arial"/>
            </a:endParaRPr>
          </a:p>
        </p:txBody>
      </p:sp>
      <p:cxnSp>
        <p:nvCxnSpPr>
          <p:cNvPr id="368" name="Google Shape;368;p11"/>
          <p:cNvCxnSpPr/>
          <p:nvPr/>
        </p:nvCxnSpPr>
        <p:spPr>
          <a:xfrm rot="10800000">
            <a:off x="17692064" y="1619816"/>
            <a:ext cx="18018" cy="7342221"/>
          </a:xfrm>
          <a:prstGeom prst="straightConnector1">
            <a:avLst/>
          </a:prstGeom>
          <a:noFill/>
          <a:ln cap="flat" cmpd="sng" w="38100">
            <a:solidFill>
              <a:srgbClr val="344C54"/>
            </a:solidFill>
            <a:prstDash val="solid"/>
            <a:round/>
            <a:headEnd len="sm" w="sm" type="none"/>
            <a:tailEnd len="sm" w="sm" type="none"/>
          </a:ln>
        </p:spPr>
      </p:cxnSp>
      <p:sp>
        <p:nvSpPr>
          <p:cNvPr id="369" name="Google Shape;369;p11"/>
          <p:cNvSpPr txBox="1"/>
          <p:nvPr/>
        </p:nvSpPr>
        <p:spPr>
          <a:xfrm>
            <a:off x="15217854" y="4610100"/>
            <a:ext cx="2237037"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PROTOTİP / UYGULAMA GELİŞTİRME DURUMU</a:t>
            </a:r>
            <a:endParaRPr sz="1550">
              <a:solidFill>
                <a:srgbClr val="1C4C61"/>
              </a:solidFill>
              <a:latin typeface="Arial"/>
              <a:ea typeface="Arial"/>
              <a:cs typeface="Arial"/>
              <a:sym typeface="Arial"/>
            </a:endParaRPr>
          </a:p>
        </p:txBody>
      </p:sp>
      <p:sp>
        <p:nvSpPr>
          <p:cNvPr id="370" name="Google Shape;370;p11"/>
          <p:cNvSpPr txBox="1"/>
          <p:nvPr/>
        </p:nvSpPr>
        <p:spPr>
          <a:xfrm>
            <a:off x="15762030" y="3405481"/>
            <a:ext cx="1660989"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ÇÖZÜM ÖNERİSİ</a:t>
            </a:r>
            <a:endParaRPr sz="1550">
              <a:solidFill>
                <a:srgbClr val="1C4C61"/>
              </a:solidFill>
              <a:latin typeface="Arial"/>
              <a:ea typeface="Arial"/>
              <a:cs typeface="Arial"/>
              <a:sym typeface="Arial"/>
            </a:endParaRPr>
          </a:p>
        </p:txBody>
      </p:sp>
      <p:sp>
        <p:nvSpPr>
          <p:cNvPr id="371" name="Google Shape;371;p11"/>
          <p:cNvSpPr txBox="1"/>
          <p:nvPr/>
        </p:nvSpPr>
        <p:spPr>
          <a:xfrm>
            <a:off x="15986302" y="7353300"/>
            <a:ext cx="1436949" cy="539443"/>
          </a:xfrm>
          <a:prstGeom prst="rect">
            <a:avLst/>
          </a:prstGeom>
          <a:gradFill>
            <a:gsLst>
              <a:gs pos="0">
                <a:srgbClr val="F4F8FB"/>
              </a:gs>
              <a:gs pos="74000">
                <a:srgbClr val="AEC5E1"/>
              </a:gs>
              <a:gs pos="83000">
                <a:srgbClr val="AEC5E1"/>
              </a:gs>
              <a:gs pos="100000">
                <a:srgbClr val="C8D8EB"/>
              </a:gs>
            </a:gsLst>
            <a:lin ang="5400000" scaled="0"/>
          </a:grad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TAKVİMİ</a:t>
            </a:r>
            <a:endParaRPr sz="1550">
              <a:solidFill>
                <a:srgbClr val="1C4C61"/>
              </a:solidFill>
              <a:latin typeface="Arial"/>
              <a:ea typeface="Arial"/>
              <a:cs typeface="Arial"/>
              <a:sym typeface="Arial"/>
            </a:endParaRPr>
          </a:p>
        </p:txBody>
      </p:sp>
      <p:sp>
        <p:nvSpPr>
          <p:cNvPr id="372" name="Google Shape;372;p11"/>
          <p:cNvSpPr txBox="1"/>
          <p:nvPr/>
        </p:nvSpPr>
        <p:spPr>
          <a:xfrm>
            <a:off x="15217854" y="5372100"/>
            <a:ext cx="2198106"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UYGULANABİLİRLİK VE SÜRDÜRÜLEBİLİRLİK</a:t>
            </a:r>
            <a:endParaRPr sz="1550">
              <a:solidFill>
                <a:srgbClr val="1C4C61"/>
              </a:solidFill>
              <a:latin typeface="Arial"/>
              <a:ea typeface="Arial"/>
              <a:cs typeface="Arial"/>
              <a:sym typeface="Arial"/>
            </a:endParaRPr>
          </a:p>
        </p:txBody>
      </p:sp>
      <p:sp>
        <p:nvSpPr>
          <p:cNvPr id="373" name="Google Shape;373;p11"/>
          <p:cNvSpPr txBox="1"/>
          <p:nvPr/>
        </p:nvSpPr>
        <p:spPr>
          <a:xfrm>
            <a:off x="15748194" y="6806628"/>
            <a:ext cx="169372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HEDEF KİTLE VE YAYGIN ETKİ </a:t>
            </a:r>
            <a:endParaRPr sz="1550">
              <a:solidFill>
                <a:srgbClr val="1C4C61"/>
              </a:solidFill>
              <a:latin typeface="Arial"/>
              <a:ea typeface="Arial"/>
              <a:cs typeface="Arial"/>
              <a:sym typeface="Arial"/>
            </a:endParaRPr>
          </a:p>
        </p:txBody>
      </p:sp>
      <p:sp>
        <p:nvSpPr>
          <p:cNvPr id="374" name="Google Shape;374;p11"/>
          <p:cNvSpPr txBox="1"/>
          <p:nvPr/>
        </p:nvSpPr>
        <p:spPr>
          <a:xfrm>
            <a:off x="15668804" y="6134100"/>
            <a:ext cx="1724183"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ÖZGÜNLÜK VE YERLİLİK YÖNÜ</a:t>
            </a:r>
            <a:endParaRPr sz="1550">
              <a:solidFill>
                <a:srgbClr val="1C4C61"/>
              </a:solidFill>
              <a:latin typeface="Arial"/>
              <a:ea typeface="Arial"/>
              <a:cs typeface="Arial"/>
              <a:sym typeface="Arial"/>
            </a:endParaRPr>
          </a:p>
        </p:txBody>
      </p:sp>
      <p:sp>
        <p:nvSpPr>
          <p:cNvPr id="375" name="Google Shape;375;p11"/>
          <p:cNvSpPr/>
          <p:nvPr/>
        </p:nvSpPr>
        <p:spPr>
          <a:xfrm>
            <a:off x="17530470" y="19619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1"/>
          <p:cNvSpPr/>
          <p:nvPr/>
        </p:nvSpPr>
        <p:spPr>
          <a:xfrm>
            <a:off x="17530670" y="33335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1"/>
          <p:cNvSpPr/>
          <p:nvPr/>
        </p:nvSpPr>
        <p:spPr>
          <a:xfrm>
            <a:off x="17528868" y="4000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1"/>
          <p:cNvSpPr/>
          <p:nvPr/>
        </p:nvSpPr>
        <p:spPr>
          <a:xfrm>
            <a:off x="17537349" y="4686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1"/>
          <p:cNvSpPr/>
          <p:nvPr/>
        </p:nvSpPr>
        <p:spPr>
          <a:xfrm>
            <a:off x="17531608" y="5448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1"/>
          <p:cNvSpPr/>
          <p:nvPr/>
        </p:nvSpPr>
        <p:spPr>
          <a:xfrm>
            <a:off x="17516246" y="62103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1"/>
          <p:cNvSpPr/>
          <p:nvPr/>
        </p:nvSpPr>
        <p:spPr>
          <a:xfrm>
            <a:off x="17516247" y="68199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1"/>
          <p:cNvSpPr/>
          <p:nvPr/>
        </p:nvSpPr>
        <p:spPr>
          <a:xfrm>
            <a:off x="17530931" y="7429500"/>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1"/>
          <p:cNvSpPr txBox="1"/>
          <p:nvPr/>
        </p:nvSpPr>
        <p:spPr>
          <a:xfrm>
            <a:off x="15521473" y="2673548"/>
            <a:ext cx="1928327"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PROBLEMİN TANIMI </a:t>
            </a:r>
            <a:endParaRPr sz="1550">
              <a:solidFill>
                <a:srgbClr val="1C4C61"/>
              </a:solidFill>
              <a:latin typeface="Arial"/>
              <a:ea typeface="Arial"/>
              <a:cs typeface="Arial"/>
              <a:sym typeface="Arial"/>
            </a:endParaRPr>
          </a:p>
        </p:txBody>
      </p:sp>
      <p:sp>
        <p:nvSpPr>
          <p:cNvPr id="384" name="Google Shape;384;p11"/>
          <p:cNvSpPr/>
          <p:nvPr/>
        </p:nvSpPr>
        <p:spPr>
          <a:xfrm>
            <a:off x="17535520" y="1419154"/>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1"/>
          <p:cNvSpPr/>
          <p:nvPr/>
        </p:nvSpPr>
        <p:spPr>
          <a:xfrm>
            <a:off x="17544110" y="2647743"/>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1"/>
          <p:cNvSpPr txBox="1"/>
          <p:nvPr/>
        </p:nvSpPr>
        <p:spPr>
          <a:xfrm>
            <a:off x="15752068" y="1860857"/>
            <a:ext cx="1697732" cy="539443"/>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PROJE ÖZETİ VE KAPSAMI</a:t>
            </a:r>
            <a:endParaRPr sz="1550">
              <a:solidFill>
                <a:srgbClr val="1C4C61"/>
              </a:solidFill>
              <a:latin typeface="Arial"/>
              <a:ea typeface="Arial"/>
              <a:cs typeface="Arial"/>
              <a:sym typeface="Arial"/>
            </a:endParaRPr>
          </a:p>
        </p:txBody>
      </p:sp>
      <p:sp>
        <p:nvSpPr>
          <p:cNvPr id="387" name="Google Shape;387;p11"/>
          <p:cNvSpPr/>
          <p:nvPr/>
        </p:nvSpPr>
        <p:spPr>
          <a:xfrm>
            <a:off x="17530693" y="8700592"/>
            <a:ext cx="371480" cy="371546"/>
          </a:xfrm>
          <a:custGeom>
            <a:rect b="b" l="l" r="r" t="t"/>
            <a:pathLst>
              <a:path extrusionOk="0" h="369651" w="369651">
                <a:moveTo>
                  <a:pt x="0" y="0"/>
                </a:moveTo>
                <a:lnTo>
                  <a:pt x="369651" y="0"/>
                </a:lnTo>
                <a:lnTo>
                  <a:pt x="369651" y="369651"/>
                </a:lnTo>
                <a:lnTo>
                  <a:pt x="0" y="3696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1"/>
          <p:cNvSpPr txBox="1"/>
          <p:nvPr/>
        </p:nvSpPr>
        <p:spPr>
          <a:xfrm>
            <a:off x="16004968" y="4076700"/>
            <a:ext cx="1444832" cy="257315"/>
          </a:xfrm>
          <a:prstGeom prst="rect">
            <a:avLst/>
          </a:prstGeom>
          <a:noFill/>
          <a:ln>
            <a:noFill/>
          </a:ln>
        </p:spPr>
        <p:txBody>
          <a:bodyPr anchorCtr="0" anchor="t" bIns="0" lIns="0" spcFirstLastPara="1" rIns="0" wrap="square" tIns="0">
            <a:spAutoFit/>
          </a:bodyPr>
          <a:lstStyle/>
          <a:p>
            <a:pPr indent="0" lvl="0" marL="0" marR="0" rtl="0" algn="r">
              <a:lnSpc>
                <a:spcPct val="144000"/>
              </a:lnSpc>
              <a:spcBef>
                <a:spcPts val="0"/>
              </a:spcBef>
              <a:spcAft>
                <a:spcPts val="0"/>
              </a:spcAft>
              <a:buNone/>
            </a:pPr>
            <a:r>
              <a:rPr lang="en-US" sz="1550">
                <a:solidFill>
                  <a:srgbClr val="1C4C61"/>
                </a:solidFill>
                <a:latin typeface="Arial"/>
                <a:ea typeface="Arial"/>
                <a:cs typeface="Arial"/>
                <a:sym typeface="Arial"/>
              </a:rPr>
              <a:t>YÖNTEM</a:t>
            </a:r>
            <a:endParaRPr sz="1550">
              <a:solidFill>
                <a:srgbClr val="1C4C61"/>
              </a:solidFill>
              <a:latin typeface="Arial"/>
              <a:ea typeface="Arial"/>
              <a:cs typeface="Arial"/>
              <a:sym typeface="Arial"/>
            </a:endParaRPr>
          </a:p>
        </p:txBody>
      </p:sp>
      <p:sp>
        <p:nvSpPr>
          <p:cNvPr id="389" name="Google Shape;389;p11"/>
          <p:cNvSpPr/>
          <p:nvPr/>
        </p:nvSpPr>
        <p:spPr>
          <a:xfrm>
            <a:off x="17544109" y="8109835"/>
            <a:ext cx="369651" cy="362157"/>
          </a:xfrm>
          <a:custGeom>
            <a:rect b="b" l="l" r="r" t="t"/>
            <a:pathLst>
              <a:path extrusionOk="0" h="369651" w="369651">
                <a:moveTo>
                  <a:pt x="0" y="0"/>
                </a:moveTo>
                <a:lnTo>
                  <a:pt x="369651" y="0"/>
                </a:lnTo>
                <a:lnTo>
                  <a:pt x="369651" y="369652"/>
                </a:lnTo>
                <a:lnTo>
                  <a:pt x="0" y="3696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90" name="Google Shape;390;p11"/>
          <p:cNvGraphicFramePr/>
          <p:nvPr/>
        </p:nvGraphicFramePr>
        <p:xfrm>
          <a:off x="1903779" y="1740851"/>
          <a:ext cx="3000000" cy="3000000"/>
        </p:xfrm>
        <a:graphic>
          <a:graphicData uri="http://schemas.openxmlformats.org/drawingml/2006/table">
            <a:tbl>
              <a:tblPr bandRow="1" firstCol="1" firstRow="1">
                <a:noFill/>
                <a:tableStyleId>{B799D568-20D2-4370-A9DA-35796D25FDE7}</a:tableStyleId>
              </a:tblPr>
              <a:tblGrid>
                <a:gridCol w="1419900"/>
                <a:gridCol w="3480625"/>
                <a:gridCol w="3451475"/>
                <a:gridCol w="2392725"/>
                <a:gridCol w="2449525"/>
              </a:tblGrid>
              <a:tr h="819125">
                <a:tc>
                  <a:txBody>
                    <a:bodyPr/>
                    <a:lstStyle/>
                    <a:p>
                      <a:pPr indent="0" lvl="0" marL="0" marR="0" rtl="0" algn="ctr">
                        <a:lnSpc>
                          <a:spcPct val="107000"/>
                        </a:lnSpc>
                        <a:spcBef>
                          <a:spcPts val="0"/>
                        </a:spcBef>
                        <a:spcAft>
                          <a:spcPts val="0"/>
                        </a:spcAft>
                        <a:buNone/>
                      </a:pPr>
                      <a:r>
                        <a:rPr lang="en-US" sz="1800" u="none" cap="none" strike="noStrike"/>
                        <a:t>İş Paketi No</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İŞ PAKETİ ADI </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ALT FAALİYETLER</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BAŞLANGIÇ TARİHİ</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BİTİŞ TARİHİ</a:t>
                      </a:r>
                      <a:endParaRPr sz="1600" u="none" cap="none" strike="noStrike">
                        <a:latin typeface="Arial"/>
                        <a:ea typeface="Arial"/>
                        <a:cs typeface="Arial"/>
                        <a:sym typeface="Arial"/>
                      </a:endParaRPr>
                    </a:p>
                  </a:txBody>
                  <a:tcPr marT="0" marB="0" marR="68575" marL="68575" anchor="ctr">
                    <a:solidFill>
                      <a:srgbClr val="366092"/>
                    </a:solidFill>
                  </a:tcPr>
                </a:tc>
              </a:tr>
              <a:tr h="375875">
                <a:tc>
                  <a:txBody>
                    <a:bodyPr/>
                    <a:lstStyle/>
                    <a:p>
                      <a:pPr indent="0" lvl="0" marL="0" marR="0" rtl="0" algn="ctr">
                        <a:lnSpc>
                          <a:spcPct val="107000"/>
                        </a:lnSpc>
                        <a:spcBef>
                          <a:spcPts val="0"/>
                        </a:spcBef>
                        <a:spcAft>
                          <a:spcPts val="0"/>
                        </a:spcAft>
                        <a:buNone/>
                      </a:pPr>
                      <a:r>
                        <a:rPr lang="en-US" sz="1800" u="none" cap="none" strike="noStrike"/>
                        <a:t>1</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B7CCE4"/>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B7CCE4"/>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B7CCE4"/>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B7CCE4"/>
                    </a:solidFill>
                  </a:tcPr>
                </a:tc>
              </a:tr>
              <a:tr h="375875">
                <a:tc>
                  <a:txBody>
                    <a:bodyPr/>
                    <a:lstStyle/>
                    <a:p>
                      <a:pPr indent="0" lvl="0" marL="0" marR="0" rtl="0" algn="ctr">
                        <a:lnSpc>
                          <a:spcPct val="107000"/>
                        </a:lnSpc>
                        <a:spcBef>
                          <a:spcPts val="0"/>
                        </a:spcBef>
                        <a:spcAft>
                          <a:spcPts val="0"/>
                        </a:spcAft>
                        <a:buNone/>
                      </a:pPr>
                      <a:r>
                        <a:rPr lang="en-US" sz="1800" u="none" cap="none" strike="noStrike"/>
                        <a:t>2</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r>
              <a:tr h="375875">
                <a:tc>
                  <a:txBody>
                    <a:bodyPr/>
                    <a:lstStyle/>
                    <a:p>
                      <a:pPr indent="0" lvl="0" marL="0" marR="0" rtl="0" algn="ctr">
                        <a:lnSpc>
                          <a:spcPct val="107000"/>
                        </a:lnSpc>
                        <a:spcBef>
                          <a:spcPts val="0"/>
                        </a:spcBef>
                        <a:spcAft>
                          <a:spcPts val="0"/>
                        </a:spcAft>
                        <a:buNone/>
                      </a:pPr>
                      <a:r>
                        <a:rPr lang="en-US" sz="1800" u="none" cap="none" strike="noStrike"/>
                        <a:t>3</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r>
              <a:tr h="375875">
                <a:tc>
                  <a:txBody>
                    <a:bodyPr/>
                    <a:lstStyle/>
                    <a:p>
                      <a:pPr indent="0" lvl="0" marL="0" marR="0" rtl="0" algn="ctr">
                        <a:lnSpc>
                          <a:spcPct val="107000"/>
                        </a:lnSpc>
                        <a:spcBef>
                          <a:spcPts val="0"/>
                        </a:spcBef>
                        <a:spcAft>
                          <a:spcPts val="0"/>
                        </a:spcAft>
                        <a:buNone/>
                      </a:pPr>
                      <a:r>
                        <a:rPr lang="en-US" sz="1800" u="none" cap="none" strike="noStrike"/>
                        <a:t>4</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r>
              <a:tr h="375875">
                <a:tc>
                  <a:txBody>
                    <a:bodyPr/>
                    <a:lstStyle/>
                    <a:p>
                      <a:pPr indent="0" lvl="0" marL="0" marR="0" rtl="0" algn="ctr">
                        <a:lnSpc>
                          <a:spcPct val="107000"/>
                        </a:lnSpc>
                        <a:spcBef>
                          <a:spcPts val="0"/>
                        </a:spcBef>
                        <a:spcAft>
                          <a:spcPts val="0"/>
                        </a:spcAft>
                        <a:buNone/>
                      </a:pPr>
                      <a:r>
                        <a:rPr lang="en-US" sz="1800" u="none" cap="none" strike="noStrike"/>
                        <a:t>5</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r>
              <a:tr h="375875">
                <a:tc>
                  <a:txBody>
                    <a:bodyPr/>
                    <a:lstStyle/>
                    <a:p>
                      <a:pPr indent="0" lvl="0" marL="0" marR="0" rtl="0" algn="ctr">
                        <a:lnSpc>
                          <a:spcPct val="107000"/>
                        </a:lnSpc>
                        <a:spcBef>
                          <a:spcPts val="0"/>
                        </a:spcBef>
                        <a:spcAft>
                          <a:spcPts val="0"/>
                        </a:spcAft>
                        <a:buNone/>
                      </a:pPr>
                      <a:r>
                        <a:rPr lang="en-US" sz="1800" u="none" cap="none" strike="noStrike"/>
                        <a:t>6</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tc>
              </a:tr>
              <a:tr h="375875">
                <a:tc>
                  <a:txBody>
                    <a:bodyPr/>
                    <a:lstStyle/>
                    <a:p>
                      <a:pPr indent="0" lvl="0" marL="0" marR="0" rtl="0" algn="ctr">
                        <a:lnSpc>
                          <a:spcPct val="107000"/>
                        </a:lnSpc>
                        <a:spcBef>
                          <a:spcPts val="0"/>
                        </a:spcBef>
                        <a:spcAft>
                          <a:spcPts val="0"/>
                        </a:spcAft>
                        <a:buNone/>
                      </a:pPr>
                      <a:r>
                        <a:rPr lang="en-US" sz="1800" u="none" cap="none" strike="noStrike"/>
                        <a:t>7</a:t>
                      </a:r>
                      <a:endParaRPr sz="1600" u="none" cap="none" strike="noStrike">
                        <a:latin typeface="Arial"/>
                        <a:ea typeface="Arial"/>
                        <a:cs typeface="Arial"/>
                        <a:sym typeface="Arial"/>
                      </a:endParaRPr>
                    </a:p>
                  </a:txBody>
                  <a:tcPr marT="0" marB="0" marR="68575" marL="68575" anchor="ctr">
                    <a:solidFill>
                      <a:srgbClr val="366092"/>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c>
                  <a:txBody>
                    <a:bodyPr/>
                    <a:lstStyle/>
                    <a:p>
                      <a:pPr indent="0" lvl="0" marL="0" marR="0" rtl="0" algn="ctr">
                        <a:lnSpc>
                          <a:spcPct val="107000"/>
                        </a:lnSpc>
                        <a:spcBef>
                          <a:spcPts val="0"/>
                        </a:spcBef>
                        <a:spcAft>
                          <a:spcPts val="0"/>
                        </a:spcAft>
                        <a:buNone/>
                      </a:pPr>
                      <a:r>
                        <a:rPr lang="en-US" sz="1800" u="none" cap="none" strike="noStrike"/>
                        <a:t> </a:t>
                      </a:r>
                      <a:endParaRPr sz="1600" u="none" cap="none" strike="noStrike">
                        <a:latin typeface="Arial"/>
                        <a:ea typeface="Arial"/>
                        <a:cs typeface="Arial"/>
                        <a:sym typeface="Arial"/>
                      </a:endParaRPr>
                    </a:p>
                  </a:txBody>
                  <a:tcPr marT="0" marB="0" marR="68575" marL="68575" anchor="ctr">
                    <a:solidFill>
                      <a:srgbClr val="C5D8F1"/>
                    </a:solidFill>
                  </a:tcPr>
                </a:tc>
              </a:tr>
            </a:tbl>
          </a:graphicData>
        </a:graphic>
      </p:graphicFrame>
      <p:sp>
        <p:nvSpPr>
          <p:cNvPr id="391" name="Google Shape;391;p11"/>
          <p:cNvSpPr txBox="1"/>
          <p:nvPr/>
        </p:nvSpPr>
        <p:spPr>
          <a:xfrm>
            <a:off x="1509729" y="5723034"/>
            <a:ext cx="12886166" cy="92333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US" sz="1800">
                <a:solidFill>
                  <a:srgbClr val="EE0000"/>
                </a:solidFill>
              </a:rPr>
              <a:t>Proje kapsamında iş paketleri alt faaliyetleri ile birlikte detaylı, açık belirlenmiş ve gerçekçi olmalıdır. Görsel açıdan anlaşılır ve düzenli bir tablo kullanılmalıdır, örnek tablo yukarıda yer almaktadır. Paylaşılacak bilgiler yalnızca iş paketi detaylarına ve proje içeriğine odaklanmalı ve gerçekçi olmalıdır. </a:t>
            </a:r>
            <a:endParaRPr sz="1800">
              <a:solidFill>
                <a:srgbClr val="EE0000"/>
              </a:solidFill>
              <a:latin typeface="Calibri"/>
              <a:ea typeface="Calibri"/>
              <a:cs typeface="Calibri"/>
              <a:sym typeface="Calibri"/>
            </a:endParaRPr>
          </a:p>
        </p:txBody>
      </p:sp>
      <p:sp>
        <p:nvSpPr>
          <p:cNvPr id="392" name="Google Shape;392;p11"/>
          <p:cNvSpPr txBox="1"/>
          <p:nvPr/>
        </p:nvSpPr>
        <p:spPr>
          <a:xfrm>
            <a:off x="1471059" y="6812851"/>
            <a:ext cx="12886166" cy="1766702"/>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lang="en-US" sz="1800">
                <a:solidFill>
                  <a:srgbClr val="EE0000"/>
                </a:solidFill>
                <a:latin typeface="Arial"/>
                <a:ea typeface="Arial"/>
                <a:cs typeface="Arial"/>
                <a:sym typeface="Arial"/>
              </a:rPr>
              <a:t>Tabloda yer alan </a:t>
            </a:r>
            <a:r>
              <a:rPr b="1" lang="en-US" sz="1800">
                <a:solidFill>
                  <a:srgbClr val="EE0000"/>
                </a:solidFill>
                <a:latin typeface="Arial"/>
                <a:ea typeface="Arial"/>
                <a:cs typeface="Arial"/>
                <a:sym typeface="Arial"/>
              </a:rPr>
              <a:t>iş paketi</a:t>
            </a:r>
            <a:r>
              <a:rPr lang="en-US" sz="1800">
                <a:solidFill>
                  <a:srgbClr val="EE0000"/>
                </a:solidFill>
                <a:latin typeface="Arial"/>
                <a:ea typeface="Arial"/>
                <a:cs typeface="Arial"/>
                <a:sym typeface="Arial"/>
              </a:rPr>
              <a:t> ve </a:t>
            </a:r>
            <a:r>
              <a:rPr b="1" lang="en-US" sz="1800">
                <a:solidFill>
                  <a:srgbClr val="EE0000"/>
                </a:solidFill>
                <a:latin typeface="Arial"/>
                <a:ea typeface="Arial"/>
                <a:cs typeface="Arial"/>
                <a:sym typeface="Arial"/>
              </a:rPr>
              <a:t>alt faaliyetlerin </a:t>
            </a:r>
            <a:r>
              <a:rPr lang="en-US" sz="1800">
                <a:solidFill>
                  <a:srgbClr val="EE0000"/>
                </a:solidFill>
                <a:latin typeface="Arial"/>
                <a:ea typeface="Arial"/>
                <a:cs typeface="Arial"/>
                <a:sym typeface="Arial"/>
              </a:rPr>
              <a:t>tanımı;</a:t>
            </a:r>
            <a:endParaRPr sz="1600">
              <a:solidFill>
                <a:srgbClr val="EE0000"/>
              </a:solidFill>
              <a:latin typeface="Arial"/>
              <a:ea typeface="Arial"/>
              <a:cs typeface="Arial"/>
              <a:sym typeface="Arial"/>
            </a:endParaRPr>
          </a:p>
          <a:p>
            <a:pPr indent="-342900" lvl="0" marL="342900" marR="0" rtl="0" algn="just">
              <a:lnSpc>
                <a:spcPct val="107000"/>
              </a:lnSpc>
              <a:spcBef>
                <a:spcPts val="800"/>
              </a:spcBef>
              <a:spcAft>
                <a:spcPts val="0"/>
              </a:spcAft>
              <a:buClr>
                <a:srgbClr val="EE0000"/>
              </a:buClr>
              <a:buSzPts val="1000"/>
              <a:buFont typeface="Noto Sans Symbols"/>
              <a:buChar char="∙"/>
            </a:pPr>
            <a:r>
              <a:rPr b="1" lang="en-US" sz="1800">
                <a:solidFill>
                  <a:srgbClr val="EE0000"/>
                </a:solidFill>
                <a:latin typeface="Arial"/>
                <a:ea typeface="Arial"/>
                <a:cs typeface="Arial"/>
                <a:sym typeface="Arial"/>
              </a:rPr>
              <a:t>İş Paketi:</a:t>
            </a:r>
            <a:r>
              <a:rPr lang="en-US" sz="1800">
                <a:solidFill>
                  <a:srgbClr val="EE0000"/>
                </a:solidFill>
                <a:latin typeface="Arial"/>
                <a:ea typeface="Arial"/>
                <a:cs typeface="Arial"/>
                <a:sym typeface="Arial"/>
              </a:rPr>
              <a:t> Bir projede belirli bir hedefe ulaşmak için yapılan, tamamlandığında net bir sonuç ortaya koyan ve genellikle belirli bir zaman, bütçe ve kaynakla sınırlı olan bağımsız bir görevler grubudur.</a:t>
            </a:r>
            <a:endParaRPr sz="1600">
              <a:solidFill>
                <a:srgbClr val="EE0000"/>
              </a:solidFill>
              <a:latin typeface="Arial"/>
              <a:ea typeface="Arial"/>
              <a:cs typeface="Arial"/>
              <a:sym typeface="Arial"/>
            </a:endParaRPr>
          </a:p>
          <a:p>
            <a:pPr indent="-342900" lvl="0" marL="342900" marR="0" rtl="0" algn="just">
              <a:lnSpc>
                <a:spcPct val="107000"/>
              </a:lnSpc>
              <a:spcBef>
                <a:spcPts val="800"/>
              </a:spcBef>
              <a:spcAft>
                <a:spcPts val="0"/>
              </a:spcAft>
              <a:buClr>
                <a:srgbClr val="EE0000"/>
              </a:buClr>
              <a:buSzPts val="1000"/>
              <a:buFont typeface="Noto Sans Symbols"/>
              <a:buChar char="∙"/>
            </a:pPr>
            <a:r>
              <a:rPr b="1" lang="en-US" sz="1800">
                <a:solidFill>
                  <a:srgbClr val="EE0000"/>
                </a:solidFill>
                <a:latin typeface="Arial"/>
                <a:ea typeface="Arial"/>
                <a:cs typeface="Arial"/>
                <a:sym typeface="Arial"/>
              </a:rPr>
              <a:t>Alt Faaliyet:</a:t>
            </a:r>
            <a:r>
              <a:rPr lang="en-US" sz="1800">
                <a:solidFill>
                  <a:srgbClr val="EE0000"/>
                </a:solidFill>
                <a:latin typeface="Arial"/>
                <a:ea typeface="Arial"/>
                <a:cs typeface="Arial"/>
                <a:sym typeface="Arial"/>
              </a:rPr>
              <a:t> İş paketine bağlı daha küçük, daha detaylı görevler veya aktiviteler olarak tanımlanır. Alt faaliyetler, iş paketini tamamlamak için gereken adımların alt kırılımlarıdır ve genellikle daha kısa süreli ve daha spesifik görevlerdir.</a:t>
            </a:r>
            <a:endParaRPr sz="1600">
              <a:solidFill>
                <a:srgbClr val="EE0000"/>
              </a:solidFill>
              <a:latin typeface="Arial"/>
              <a:ea typeface="Arial"/>
              <a:cs typeface="Arial"/>
              <a:sym typeface="Arial"/>
            </a:endParaRPr>
          </a:p>
        </p:txBody>
      </p:sp>
      <p:sp>
        <p:nvSpPr>
          <p:cNvPr id="393" name="Google Shape;393;p11"/>
          <p:cNvSpPr txBox="1"/>
          <p:nvPr/>
        </p:nvSpPr>
        <p:spPr>
          <a:xfrm>
            <a:off x="1461091" y="5357628"/>
            <a:ext cx="9198590" cy="385875"/>
          </a:xfrm>
          <a:prstGeom prst="rect">
            <a:avLst/>
          </a:prstGeom>
          <a:noFill/>
          <a:ln>
            <a:noFill/>
          </a:ln>
        </p:spPr>
        <p:txBody>
          <a:bodyPr anchorCtr="0" anchor="t" bIns="45700" lIns="91425" spcFirstLastPara="1" rIns="91425" wrap="square" tIns="45700">
            <a:spAutoFit/>
          </a:bodyPr>
          <a:lstStyle/>
          <a:p>
            <a:pPr indent="-194310" lvl="1" marL="388620" marR="0" rtl="0" algn="l">
              <a:lnSpc>
                <a:spcPct val="140000"/>
              </a:lnSpc>
              <a:spcBef>
                <a:spcPts val="0"/>
              </a:spcBef>
              <a:spcAft>
                <a:spcPts val="0"/>
              </a:spcAft>
              <a:buClr>
                <a:srgbClr val="FF0000"/>
              </a:buClr>
              <a:buSzPts val="1800"/>
              <a:buFont typeface="Arial"/>
              <a:buChar char="•"/>
            </a:pPr>
            <a:r>
              <a:rPr b="0" i="0" lang="en-US" sz="1800" u="none" cap="none" strike="noStrike">
                <a:solidFill>
                  <a:srgbClr val="FF0000"/>
                </a:solidFill>
                <a:latin typeface="Arial"/>
                <a:ea typeface="Arial"/>
                <a:cs typeface="Arial"/>
                <a:sym typeface="Arial"/>
              </a:rPr>
              <a:t>Proje Takvimi </a:t>
            </a:r>
            <a:r>
              <a:rPr b="0" i="0" lang="en-US" sz="1800" u="sng" cap="none" strike="noStrike">
                <a:solidFill>
                  <a:srgbClr val="FF0000"/>
                </a:solidFill>
                <a:latin typeface="Arial"/>
                <a:ea typeface="Arial"/>
                <a:cs typeface="Arial"/>
                <a:sym typeface="Arial"/>
              </a:rPr>
              <a:t>en fazla bir</a:t>
            </a:r>
            <a:r>
              <a:rPr b="0" i="0" lang="en-US" sz="1800" u="none" cap="none" strike="noStrike">
                <a:solidFill>
                  <a:srgbClr val="FF0000"/>
                </a:solidFill>
                <a:latin typeface="Arial"/>
                <a:ea typeface="Arial"/>
                <a:cs typeface="Arial"/>
                <a:sym typeface="Arial"/>
              </a:rPr>
              <a:t> (1) sayfada açıklanmalıdır. </a:t>
            </a:r>
            <a:r>
              <a:rPr b="0" i="0" lang="en-US" sz="1800" u="sng" cap="none" strike="noStrike">
                <a:solidFill>
                  <a:srgbClr val="FF0000"/>
                </a:solidFill>
                <a:latin typeface="Arial"/>
                <a:ea typeface="Arial"/>
                <a:cs typeface="Arial"/>
                <a:sym typeface="Arial"/>
              </a:rPr>
              <a:t>Sayfa sınırı </a:t>
            </a:r>
            <a:r>
              <a:rPr b="0" i="0" lang="en-US" sz="1800" u="none" cap="none" strike="noStrike">
                <a:solidFill>
                  <a:srgbClr val="FF0000"/>
                </a:solidFill>
                <a:latin typeface="Arial"/>
                <a:ea typeface="Arial"/>
                <a:cs typeface="Arial"/>
                <a:sym typeface="Arial"/>
              </a:rPr>
              <a:t>aşılmamalıdır.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2"/>
          <p:cNvSpPr txBox="1"/>
          <p:nvPr/>
        </p:nvSpPr>
        <p:spPr>
          <a:xfrm>
            <a:off x="838196" y="1028700"/>
            <a:ext cx="17040900" cy="888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Aşağıda belirtilen kurallar, proje sunum dosyalarının hazırlanması, yüklenmesi ve sunum aşamasıyla ilgili gereklilikleri içermektedir. Takımların, belirlenen kurallara tam uyum sağlaması beklenmektedir.</a:t>
            </a:r>
            <a:endParaRPr>
              <a:solidFill>
                <a:schemeClr val="dk1"/>
              </a:solidFill>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b="1" lang="en-US" sz="1900" u="sng">
                <a:solidFill>
                  <a:schemeClr val="dk1"/>
                </a:solidFill>
                <a:latin typeface="Calibri"/>
                <a:ea typeface="Calibri"/>
                <a:cs typeface="Calibri"/>
                <a:sym typeface="Calibri"/>
              </a:rPr>
              <a:t>1. Genel Şablon Kullanımı</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Şablonun kurumsal kimlik unsurları, sayfa ölçüsü, sabit başlık yapısı ve alt bilgi alanları değiştirilmemelidir. Başlıkların altında kalan içerik alanında metin, görsel, tablo ve diyagram yerleşimi takımların inisiyatifindedir</a:t>
            </a:r>
            <a:r>
              <a:rPr b="1" lang="en-US" sz="1900">
                <a:solidFill>
                  <a:schemeClr val="dk1"/>
                </a:solidFill>
                <a:latin typeface="Calibri"/>
                <a:ea typeface="Calibri"/>
                <a:cs typeface="Calibri"/>
                <a:sym typeface="Calibri"/>
              </a:rPr>
              <a:t> Konu başlıkları altındaki kırmızı açıklamalar kaldırılmalı</a:t>
            </a:r>
            <a:r>
              <a:rPr lang="en-US" sz="1900">
                <a:solidFill>
                  <a:schemeClr val="dk1"/>
                </a:solidFill>
                <a:latin typeface="Calibri"/>
                <a:ea typeface="Calibri"/>
                <a:cs typeface="Calibri"/>
                <a:sym typeface="Calibri"/>
              </a:rPr>
              <a:t> ve yerine takımlar kendi açıklamalarını, görsellerini veya içeriklerini eklemelidir.</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Font tipi ve boyutu </a:t>
            </a:r>
            <a:r>
              <a:rPr b="1" lang="en-US" sz="1900">
                <a:solidFill>
                  <a:schemeClr val="dk1"/>
                </a:solidFill>
                <a:latin typeface="Calibri"/>
                <a:ea typeface="Calibri"/>
                <a:cs typeface="Calibri"/>
                <a:sym typeface="Calibri"/>
              </a:rPr>
              <a:t>serbesttir</a:t>
            </a:r>
            <a:r>
              <a:rPr lang="en-US" sz="1900">
                <a:solidFill>
                  <a:schemeClr val="dk1"/>
                </a:solidFill>
                <a:latin typeface="Calibri"/>
                <a:ea typeface="Calibri"/>
                <a:cs typeface="Calibri"/>
                <a:sym typeface="Calibri"/>
              </a:rPr>
              <a:t>, ancak toplam sayfa sayısı sınırları aşılmamalıdır.</a:t>
            </a:r>
            <a:endParaRPr>
              <a:solidFill>
                <a:schemeClr val="dk1"/>
              </a:solidFill>
            </a:endParaRPr>
          </a:p>
          <a:p>
            <a:pPr indent="0" lvl="0" marL="0" rtl="0" algn="l">
              <a:spcBef>
                <a:spcPts val="0"/>
              </a:spcBef>
              <a:spcAft>
                <a:spcPts val="0"/>
              </a:spcAft>
              <a:buNone/>
            </a:pPr>
            <a:r>
              <a:rPr b="1" lang="en-US" sz="1900" u="sng">
                <a:solidFill>
                  <a:schemeClr val="dk1"/>
                </a:solidFill>
                <a:latin typeface="Calibri"/>
                <a:ea typeface="Calibri"/>
                <a:cs typeface="Calibri"/>
                <a:sym typeface="Calibri"/>
              </a:rPr>
              <a:t>2. Sayfa Düzeni ve İçerik Kuralları</a:t>
            </a:r>
            <a:endParaRPr>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latin typeface="Calibri"/>
                <a:ea typeface="Calibri"/>
                <a:cs typeface="Calibri"/>
                <a:sym typeface="Calibri"/>
              </a:rPr>
              <a:t> Sayfa alt kısmında</a:t>
            </a:r>
            <a:r>
              <a:rPr lang="en-US" sz="1900">
                <a:solidFill>
                  <a:schemeClr val="dk1"/>
                </a:solidFill>
                <a:latin typeface="Calibri"/>
                <a:ea typeface="Calibri"/>
                <a:cs typeface="Calibri"/>
                <a:sym typeface="Calibri"/>
              </a:rPr>
              <a:t> yer alan </a:t>
            </a:r>
            <a:r>
              <a:rPr b="1" lang="en-US" sz="1900">
                <a:solidFill>
                  <a:schemeClr val="dk1"/>
                </a:solidFill>
                <a:latin typeface="Calibri"/>
                <a:ea typeface="Calibri"/>
                <a:cs typeface="Calibri"/>
                <a:sym typeface="Calibri"/>
              </a:rPr>
              <a:t>TAKIM ADI – TAKIM ID – BAŞVURU ID </a:t>
            </a:r>
            <a:r>
              <a:rPr lang="en-US" sz="1900">
                <a:solidFill>
                  <a:schemeClr val="dk1"/>
                </a:solidFill>
                <a:latin typeface="Calibri"/>
                <a:ea typeface="Calibri"/>
                <a:cs typeface="Calibri"/>
                <a:sym typeface="Calibri"/>
              </a:rPr>
              <a:t>bilgileri </a:t>
            </a:r>
            <a:r>
              <a:rPr b="1" lang="en-US" sz="1900">
                <a:solidFill>
                  <a:schemeClr val="dk1"/>
                </a:solidFill>
                <a:latin typeface="Calibri"/>
                <a:ea typeface="Calibri"/>
                <a:cs typeface="Calibri"/>
                <a:sym typeface="Calibri"/>
              </a:rPr>
              <a:t>tüm sayfalarda aynı pozisyonda ve formatta</a:t>
            </a:r>
            <a:r>
              <a:rPr lang="en-US" sz="1900">
                <a:solidFill>
                  <a:schemeClr val="dk1"/>
                </a:solidFill>
                <a:latin typeface="Calibri"/>
                <a:ea typeface="Calibri"/>
                <a:cs typeface="Calibri"/>
                <a:sym typeface="Calibri"/>
              </a:rPr>
              <a:t> olmalıdır.</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Her başlık altında </a:t>
            </a:r>
            <a:r>
              <a:rPr b="1" lang="en-US" sz="1900">
                <a:solidFill>
                  <a:schemeClr val="dk1"/>
                </a:solidFill>
                <a:latin typeface="Calibri"/>
                <a:ea typeface="Calibri"/>
                <a:cs typeface="Calibri"/>
                <a:sym typeface="Calibri"/>
              </a:rPr>
              <a:t>yalnızca ilgili konu anlatılmalıdır</a:t>
            </a:r>
            <a:r>
              <a:rPr lang="en-US" sz="1900">
                <a:solidFill>
                  <a:schemeClr val="dk1"/>
                </a:solidFill>
                <a:latin typeface="Calibri"/>
                <a:ea typeface="Calibri"/>
                <a:cs typeface="Calibri"/>
                <a:sym typeface="Calibri"/>
              </a:rPr>
              <a:t>; farklı bir başlığa yönelik içerik eklenmemelidir.</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Sunum içeriğinde </a:t>
            </a:r>
            <a:r>
              <a:rPr b="1" lang="en-US" sz="1900">
                <a:solidFill>
                  <a:schemeClr val="dk1"/>
                </a:solidFill>
                <a:latin typeface="Calibri"/>
                <a:ea typeface="Calibri"/>
                <a:cs typeface="Calibri"/>
                <a:sym typeface="Calibri"/>
              </a:rPr>
              <a:t>tekrarlayan veya birbirinin aynısı olan ifadeler </a:t>
            </a:r>
            <a:r>
              <a:rPr b="1" lang="en-US" sz="1900" u="sng">
                <a:solidFill>
                  <a:schemeClr val="dk1"/>
                </a:solidFill>
                <a:latin typeface="Calibri"/>
                <a:ea typeface="Calibri"/>
                <a:cs typeface="Calibri"/>
                <a:sym typeface="Calibri"/>
              </a:rPr>
              <a:t>bulunmamalıdır</a:t>
            </a:r>
            <a:r>
              <a:rPr lang="en-US" sz="1900">
                <a:solidFill>
                  <a:schemeClr val="dk1"/>
                </a:solidFill>
                <a:latin typeface="Calibri"/>
                <a:ea typeface="Calibri"/>
                <a:cs typeface="Calibri"/>
                <a:sym typeface="Calibri"/>
              </a:rPr>
              <a:t>. Metinler, açık ve anlaşılır bir dille yazılmalıdır.</a:t>
            </a:r>
            <a:endParaRPr>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latin typeface="Calibri"/>
                <a:ea typeface="Calibri"/>
                <a:cs typeface="Calibri"/>
                <a:sym typeface="Calibri"/>
              </a:rPr>
              <a:t> Takım tanıtım sayfasında</a:t>
            </a:r>
            <a:r>
              <a:rPr lang="en-US" sz="1900">
                <a:solidFill>
                  <a:schemeClr val="dk1"/>
                </a:solidFill>
                <a:latin typeface="Calibri"/>
                <a:ea typeface="Calibri"/>
                <a:cs typeface="Calibri"/>
                <a:sym typeface="Calibri"/>
              </a:rPr>
              <a:t>, takım üyelerinin fotoğrafları isteğe bağlı olarak eklenebilir.</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Metin ve görsel tasarımı, kapak ve takım tanıtım sayfaları hariç, belirtilen içerik ve sayfa sınırları korunmak kaydıyla takımların inisiyatifindedir.</a:t>
            </a:r>
            <a:br>
              <a:rPr lang="en-US" sz="2000">
                <a:solidFill>
                  <a:schemeClr val="dk1"/>
                </a:solidFill>
              </a:rPr>
            </a:br>
            <a:r>
              <a:rPr b="1" lang="en-US" sz="1900">
                <a:solidFill>
                  <a:schemeClr val="dk1"/>
                </a:solidFill>
                <a:latin typeface="Calibri"/>
                <a:ea typeface="Calibri"/>
                <a:cs typeface="Calibri"/>
                <a:sym typeface="Calibri"/>
              </a:rPr>
              <a:t> Ek görseller</a:t>
            </a:r>
            <a:r>
              <a:rPr lang="en-US" sz="1900">
                <a:solidFill>
                  <a:schemeClr val="dk1"/>
                </a:solidFill>
                <a:latin typeface="Calibri"/>
                <a:ea typeface="Calibri"/>
                <a:cs typeface="Calibri"/>
                <a:sym typeface="Calibri"/>
              </a:rPr>
              <a:t> eklenecekse, şablonun düzeni bozulmadan ve sayfa sınırı kurallarına uygun şekilde yerleştirilmelidir.</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Sunumda kullanılan akademik bulgular, istatistikler, tablolar, grafikler ve dış kaynaklı görseller ilgili sayfada kısa kaynak bilgisiyle belirtilmelidir.</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b="1" lang="en-US" sz="1900" u="sng">
                <a:solidFill>
                  <a:schemeClr val="dk1"/>
                </a:solidFill>
                <a:latin typeface="Calibri"/>
                <a:ea typeface="Calibri"/>
                <a:cs typeface="Calibri"/>
                <a:sym typeface="Calibri"/>
              </a:rPr>
              <a:t>3. Sayfa ve Dosya Sınırlandırmaları</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Sunum dosyası, Kapak sayfası dahil </a:t>
            </a:r>
            <a:r>
              <a:rPr b="1" lang="en-US" sz="1900">
                <a:solidFill>
                  <a:schemeClr val="dk1"/>
                </a:solidFill>
                <a:latin typeface="Calibri"/>
                <a:ea typeface="Calibri"/>
                <a:cs typeface="Calibri"/>
                <a:sym typeface="Calibri"/>
              </a:rPr>
              <a:t>toplamda 19 sayfayı geçmemelidir</a:t>
            </a:r>
            <a:r>
              <a:rPr lang="en-US" sz="1900">
                <a:solidFill>
                  <a:schemeClr val="dk1"/>
                </a:solidFill>
                <a:latin typeface="Calibri"/>
                <a:ea typeface="Calibri"/>
                <a:cs typeface="Calibri"/>
                <a:sym typeface="Calibri"/>
              </a:rPr>
              <a:t>.</a:t>
            </a:r>
            <a:endParaRPr>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latin typeface="Calibri"/>
                <a:ea typeface="Calibri"/>
                <a:cs typeface="Calibri"/>
                <a:sym typeface="Calibri"/>
              </a:rPr>
              <a:t> Her sayfada belirtilen sayfa sınırı </a:t>
            </a:r>
            <a:r>
              <a:rPr b="1" lang="en-US" sz="1900" u="sng">
                <a:solidFill>
                  <a:schemeClr val="dk1"/>
                </a:solidFill>
                <a:latin typeface="Calibri"/>
                <a:ea typeface="Calibri"/>
                <a:cs typeface="Calibri"/>
                <a:sym typeface="Calibri"/>
              </a:rPr>
              <a:t>aşılmamalıdır</a:t>
            </a:r>
            <a:r>
              <a:rPr b="1" lang="en-US" sz="1900">
                <a:solidFill>
                  <a:schemeClr val="dk1"/>
                </a:solidFill>
                <a:latin typeface="Calibri"/>
                <a:ea typeface="Calibri"/>
                <a:cs typeface="Calibri"/>
                <a:sym typeface="Calibri"/>
              </a:rPr>
              <a:t>.</a:t>
            </a:r>
            <a:r>
              <a:rPr lang="en-US" sz="1900">
                <a:solidFill>
                  <a:schemeClr val="dk1"/>
                </a:solidFill>
                <a:latin typeface="Calibri"/>
                <a:ea typeface="Calibri"/>
                <a:cs typeface="Calibri"/>
                <a:sym typeface="Calibri"/>
              </a:rPr>
              <a:t> Sayfa sınırının aşılması halinde </a:t>
            </a:r>
            <a:r>
              <a:rPr b="1" lang="en-US" sz="1900">
                <a:solidFill>
                  <a:schemeClr val="dk1"/>
                </a:solidFill>
                <a:latin typeface="Calibri"/>
                <a:ea typeface="Calibri"/>
                <a:cs typeface="Calibri"/>
                <a:sym typeface="Calibri"/>
              </a:rPr>
              <a:t>her fazla sayfa için 3 ceza puanı uygulanacaktır</a:t>
            </a:r>
            <a:r>
              <a:rPr lang="en-US" sz="1900">
                <a:solidFill>
                  <a:schemeClr val="dk1"/>
                </a:solidFill>
                <a:latin typeface="Calibri"/>
                <a:ea typeface="Calibri"/>
                <a:cs typeface="Calibri"/>
                <a:sym typeface="Calibri"/>
              </a:rPr>
              <a:t>.</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Toplam sayfa sınırı aşıldığında, </a:t>
            </a:r>
            <a:r>
              <a:rPr b="1" lang="en-US" sz="1900">
                <a:solidFill>
                  <a:schemeClr val="dk1"/>
                </a:solidFill>
                <a:latin typeface="Calibri"/>
                <a:ea typeface="Calibri"/>
                <a:cs typeface="Calibri"/>
                <a:sym typeface="Calibri"/>
              </a:rPr>
              <a:t>sistem dosya yüklemesini kabul etmeyecektir.</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Sunum dosyası, </a:t>
            </a:r>
            <a:r>
              <a:rPr b="1" lang="en-US" sz="1900">
                <a:solidFill>
                  <a:schemeClr val="dk1"/>
                </a:solidFill>
                <a:latin typeface="Calibri"/>
                <a:ea typeface="Calibri"/>
                <a:cs typeface="Calibri"/>
                <a:sym typeface="Calibri"/>
              </a:rPr>
              <a:t>PDF formatında ve maksimum 75 MB boyutunda</a:t>
            </a:r>
            <a:r>
              <a:rPr lang="en-US" sz="1900">
                <a:solidFill>
                  <a:schemeClr val="dk1"/>
                </a:solidFill>
                <a:latin typeface="Calibri"/>
                <a:ea typeface="Calibri"/>
                <a:cs typeface="Calibri"/>
                <a:sym typeface="Calibri"/>
              </a:rPr>
              <a:t> olmalıdır. Aksi takdirde sistem yükleme işlemini gerçekleştirmeyecektir.</a:t>
            </a:r>
            <a:endParaRPr>
              <a:solidFill>
                <a:schemeClr val="dk1"/>
              </a:solidFill>
            </a:endParaRPr>
          </a:p>
          <a:p>
            <a:pPr indent="0" lvl="0" marL="0" rtl="0" algn="l">
              <a:spcBef>
                <a:spcPts val="0"/>
              </a:spcBef>
              <a:spcAft>
                <a:spcPts val="0"/>
              </a:spcAft>
              <a:buNone/>
            </a:pPr>
            <a:r>
              <a:rPr b="1" lang="en-US" sz="1900" u="sng">
                <a:solidFill>
                  <a:schemeClr val="dk1"/>
                </a:solidFill>
                <a:latin typeface="Calibri"/>
                <a:ea typeface="Calibri"/>
                <a:cs typeface="Calibri"/>
                <a:sym typeface="Calibri"/>
              </a:rPr>
              <a:t>4. Sunum Süreci ve Yükleme Kuralları</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Sisteme yüklenen sunum dosyası final sunumunda esas alınacaktır. Final sunumu, organizasyon tarafından ilan edilen usule göre çevrim içi veya yüz yüze gerçekleştirilebilir.</a:t>
            </a:r>
            <a:br>
              <a:rPr lang="en-US" sz="2000">
                <a:solidFill>
                  <a:schemeClr val="dk1"/>
                </a:solidFill>
              </a:rPr>
            </a:br>
            <a:r>
              <a:rPr lang="en-US" sz="1900">
                <a:solidFill>
                  <a:schemeClr val="dk1"/>
                </a:solidFill>
                <a:latin typeface="Calibri"/>
                <a:ea typeface="Calibri"/>
                <a:cs typeface="Calibri"/>
                <a:sym typeface="Calibri"/>
              </a:rPr>
              <a:t> Belirtilen son yükleme tarihinden sonra sunumda herhangi bir </a:t>
            </a:r>
            <a:r>
              <a:rPr b="1" lang="en-US" sz="1900">
                <a:solidFill>
                  <a:schemeClr val="dk1"/>
                </a:solidFill>
                <a:latin typeface="Calibri"/>
                <a:ea typeface="Calibri"/>
                <a:cs typeface="Calibri"/>
                <a:sym typeface="Calibri"/>
              </a:rPr>
              <a:t>güncelleme yapılamayacaktır</a:t>
            </a:r>
            <a:r>
              <a:rPr lang="en-US" sz="1900">
                <a:solidFill>
                  <a:schemeClr val="dk1"/>
                </a:solidFill>
                <a:latin typeface="Calibri"/>
                <a:ea typeface="Calibri"/>
                <a:cs typeface="Calibri"/>
                <a:sym typeface="Calibri"/>
              </a:rPr>
              <a:t>.</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Sunum içerisinde harici video veya bulut depolama bağlantıları kaynak gösterimi amacıyla kullanılmamalıdır</a:t>
            </a:r>
            <a:endParaRPr>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latin typeface="Calibri"/>
                <a:ea typeface="Calibri"/>
                <a:cs typeface="Calibri"/>
                <a:sym typeface="Calibri"/>
              </a:rPr>
              <a:t>Proje sunumu yalnızca takım üyeleri tarafından gerçekleştirilecektir</a:t>
            </a:r>
            <a:r>
              <a:rPr lang="en-US" sz="1900">
                <a:solidFill>
                  <a:schemeClr val="dk1"/>
                </a:solidFill>
                <a:latin typeface="Calibri"/>
                <a:ea typeface="Calibri"/>
                <a:cs typeface="Calibri"/>
                <a:sym typeface="Calibri"/>
              </a:rPr>
              <a:t>. </a:t>
            </a:r>
            <a:endParaRPr>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 Sunuma </a:t>
            </a:r>
            <a:r>
              <a:rPr b="1" lang="en-US" sz="1900">
                <a:solidFill>
                  <a:schemeClr val="dk1"/>
                </a:solidFill>
                <a:latin typeface="Calibri"/>
                <a:ea typeface="Calibri"/>
                <a:cs typeface="Calibri"/>
                <a:sym typeface="Calibri"/>
              </a:rPr>
              <a:t>en az bir takım üyesinin katılımı zorunludur</a:t>
            </a:r>
            <a:r>
              <a:rPr lang="en-US" sz="1900">
                <a:solidFill>
                  <a:schemeClr val="dk1"/>
                </a:solidFill>
                <a:latin typeface="Calibri"/>
                <a:ea typeface="Calibri"/>
                <a:cs typeface="Calibri"/>
                <a:sym typeface="Calibri"/>
              </a:rPr>
              <a:t>. </a:t>
            </a:r>
            <a:endParaRPr>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latin typeface="Calibri"/>
                <a:ea typeface="Calibri"/>
                <a:cs typeface="Calibri"/>
                <a:sym typeface="Calibri"/>
              </a:rPr>
              <a:t> Sunumlarını KYS sistemi üzerinden belirtilen süre içinde yüklemeyen takımlara randevu planlaması yapılmayacak ve sunum hakkı kaybedilecektir.</a:t>
            </a:r>
            <a:endParaRPr sz="1900">
              <a:solidFill>
                <a:schemeClr val="dk1"/>
              </a:solidFill>
              <a:latin typeface="Calibri"/>
              <a:ea typeface="Calibri"/>
              <a:cs typeface="Calibri"/>
              <a:sym typeface="Calibri"/>
            </a:endParaRPr>
          </a:p>
          <a:p>
            <a:pPr indent="-120650" lvl="0" marL="0" marR="0" rtl="0" algn="l">
              <a:spcBef>
                <a:spcPts val="0"/>
              </a:spcBef>
              <a:spcAft>
                <a:spcPts val="0"/>
              </a:spcAft>
              <a:buClr>
                <a:schemeClr val="dk1"/>
              </a:buClr>
              <a:buSzPts val="1900"/>
              <a:buFont typeface="Calibri"/>
              <a:buChar char="•"/>
            </a:pPr>
            <a:r>
              <a:t/>
            </a:r>
            <a:endParaRPr sz="1900">
              <a:solidFill>
                <a:schemeClr val="dk1"/>
              </a:solidFill>
              <a:latin typeface="Calibri"/>
              <a:ea typeface="Calibri"/>
              <a:cs typeface="Calibri"/>
              <a:sym typeface="Calibri"/>
            </a:endParaRPr>
          </a:p>
        </p:txBody>
      </p:sp>
      <p:sp>
        <p:nvSpPr>
          <p:cNvPr id="400" name="Google Shape;400;p12"/>
          <p:cNvSpPr txBox="1"/>
          <p:nvPr/>
        </p:nvSpPr>
        <p:spPr>
          <a:xfrm>
            <a:off x="3149968" y="-94862"/>
            <a:ext cx="11988064" cy="590162"/>
          </a:xfrm>
          <a:prstGeom prst="rect">
            <a:avLst/>
          </a:prstGeom>
          <a:noFill/>
          <a:ln>
            <a:noFill/>
          </a:ln>
        </p:spPr>
        <p:txBody>
          <a:bodyPr anchorCtr="0" anchor="t" bIns="0" lIns="0" spcFirstLastPara="1" rIns="0" wrap="square" tIns="0">
            <a:spAutoFit/>
          </a:bodyPr>
          <a:lstStyle/>
          <a:p>
            <a:pPr indent="0" lvl="0" marL="0" marR="0" rtl="0" algn="ctr">
              <a:lnSpc>
                <a:spcPct val="223750"/>
              </a:lnSpc>
              <a:spcBef>
                <a:spcPts val="0"/>
              </a:spcBef>
              <a:spcAft>
                <a:spcPts val="0"/>
              </a:spcAft>
              <a:buNone/>
            </a:pPr>
            <a:r>
              <a:rPr lang="en-US" sz="2400" u="sng">
                <a:solidFill>
                  <a:srgbClr val="1C4C61"/>
                </a:solidFill>
                <a:latin typeface="Arial"/>
                <a:ea typeface="Arial"/>
                <a:cs typeface="Arial"/>
                <a:sym typeface="Arial"/>
              </a:rPr>
              <a:t>SUNUM HAZIRLAMA KURALLARI</a:t>
            </a:r>
            <a:endParaRPr/>
          </a:p>
        </p:txBody>
      </p:sp>
      <p:sp>
        <p:nvSpPr>
          <p:cNvPr id="401" name="Google Shape;401;p12"/>
          <p:cNvSpPr txBox="1"/>
          <p:nvPr/>
        </p:nvSpPr>
        <p:spPr>
          <a:xfrm>
            <a:off x="100409" y="405356"/>
            <a:ext cx="18516599" cy="532453"/>
          </a:xfrm>
          <a:prstGeom prst="rect">
            <a:avLst/>
          </a:prstGeom>
          <a:noFill/>
          <a:ln>
            <a:noFill/>
          </a:ln>
        </p:spPr>
        <p:txBody>
          <a:bodyPr anchorCtr="0" anchor="t" bIns="0" lIns="0" spcFirstLastPara="1" rIns="0" wrap="square" tIns="0">
            <a:spAutoFit/>
          </a:bodyPr>
          <a:lstStyle/>
          <a:p>
            <a:pPr indent="0" lvl="0" marL="0" marR="0" rtl="0" algn="ctr">
              <a:lnSpc>
                <a:spcPct val="198291"/>
              </a:lnSpc>
              <a:spcBef>
                <a:spcPts val="0"/>
              </a:spcBef>
              <a:spcAft>
                <a:spcPts val="0"/>
              </a:spcAft>
              <a:buNone/>
            </a:pPr>
            <a:r>
              <a:rPr b="1" lang="en-US" sz="2400" u="sng">
                <a:solidFill>
                  <a:srgbClr val="DE2223"/>
                </a:solidFill>
                <a:latin typeface="Arial"/>
                <a:ea typeface="Arial"/>
                <a:cs typeface="Arial"/>
                <a:sym typeface="Arial"/>
              </a:rPr>
              <a:t>SUNUMDA BU SAYFAYA YER VERİLMEYECEKTİR!!! (KURALLARA GÖRE HAZIRLANDIKTAN SONRA SİLİNMELİDİR.)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TEKNOFEST</dc:creator>
</cp:coreProperties>
</file>